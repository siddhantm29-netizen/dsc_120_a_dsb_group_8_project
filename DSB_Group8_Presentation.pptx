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59448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DSB Assignment   |   Group 8   |   July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132588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Global Events, Commodities</a:t>
            </a:r>
            <a:endParaRPr lang="en-US" sz="3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Currency Markets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century of oil, gold and silver prices and four SWIFT currency reports say about risk and market direction.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37490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+52%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42519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Brent oil in a single month, February to March 2026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383280" y="37490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x2.7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383280" y="42519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annual average, 2022 to 2026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309360" y="37490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51.1%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6309360" y="42519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dollar share of global payments, April 2026 report</a:t>
            </a:r>
            <a:endParaRPr lang="en-US" sz="1050" dirty="0"/>
          </a:p>
        </p:txBody>
      </p:sp>
      <p:sp>
        <p:nvSpPr>
          <p:cNvPr id="12" name="Text 0">
            <a:extLst>
              <a:ext uri="{FF2B5EF4-FFF2-40B4-BE49-F238E27FC236}">
                <a16:creationId xmlns:a16="http://schemas.microsoft.com/office/drawing/2014/main" id="{36C0BED1-8FF3-AC2D-6C8C-2904590199DE}"/>
              </a:ext>
            </a:extLst>
          </p:cNvPr>
          <p:cNvSpPr/>
          <p:nvPr/>
        </p:nvSpPr>
        <p:spPr>
          <a:xfrm>
            <a:off x="457200" y="652707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Ivan Logutov | Siddhant </a:t>
            </a:r>
            <a:r>
              <a:rPr lang="en-US" sz="1100" dirty="0" err="1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Mathapati</a:t>
            </a: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|Sudheer Chowdary | </a:t>
            </a:r>
            <a:r>
              <a:rPr lang="en-US" sz="1100" dirty="0" err="1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Muthoju</a:t>
            </a: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Sandeep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Oil reprices in weeks, not years</a:t>
            </a:r>
            <a:endParaRPr lang="en-US" sz="2600" dirty="0"/>
          </a:p>
        </p:txBody>
      </p:sp>
      <p:pic>
        <p:nvPicPr>
          <p:cNvPr id="3" name="Image 0" descr="/sessions/beautiful-lucid-euler/mnt/DSC_120_A_DSB_Group_8_Project/part1/figures/Q13_brent_tr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5760720" cy="28712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92240" y="10515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+52%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6492240" y="15544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to Mar 2026, during the Hormuz shipping disruption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6492240" y="21488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+28.2%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6492240" y="26517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 annual average, Russia-Ukraine war and sanctions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492240" y="32461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-33.6%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6492240" y="37490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 annual average, Covid demand collapse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57200" y="42519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major move in the series maps to a supply or demand shock. Planning assumption: 30 percent annual swings in either direction.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641080" y="4800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Gold: a four-year structural climb</a:t>
            </a:r>
            <a:endParaRPr lang="en-US" sz="2600" dirty="0"/>
          </a:p>
        </p:txBody>
      </p:sp>
      <p:pic>
        <p:nvPicPr>
          <p:cNvPr id="3" name="Image 0" descr="/sessions/beautiful-lucid-euler/mnt/DSC_120_A_DSB_Group_8_Project/part2/figures/PartII_Q4_gold_accumul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5760720" cy="2880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92240" y="10515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4,882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6492240" y="15544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annual average 2026, up from 1,799 in 2022 (USD)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6492240" y="21488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+131.5%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6492240" y="26517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in 2026 alone; it tracks gold with larger swings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492240" y="32461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0.954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6492240" y="37490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gold-silver correlation on annual averages; oil sits near 0.5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57200" y="42519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every year since 2022, consistent with central-bank accumulation and de-dollarisation, unlike the one-year fear spike of 2020.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641080" y="4800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dollar still settles the world</a:t>
            </a:r>
            <a:endParaRPr lang="en-US" sz="2600" dirty="0"/>
          </a:p>
        </p:txBody>
      </p:sp>
      <p:pic>
        <p:nvPicPr>
          <p:cNvPr id="3" name="Image 0" descr="/sessions/beautiful-lucid-euler/mnt/DSC_120_A_DSB_Group_8_Project/part1/figures/Q24_top10_currenci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5760720" cy="29443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92240" y="10515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80.7%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6492240" y="15544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dollar share of trade finance; 51.1% of global payments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6492240" y="21488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8.0%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6492240" y="26517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renminbi in trade finance, rank 2, against 3.1% of payments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492240" y="32461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75.2%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6492240" y="37490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offshore renminbi activity runs through Hong Kong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57200" y="42519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shares barely move across the four reports. The growth is on the renminbi trade-finance rail, pushed along by sanctions and settlement alternatives.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641080" y="4800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AAAA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3000" y="1051560"/>
            <a:ext cx="7543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Hedge oil exposure and budget for large swings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1143000" y="1399032"/>
            <a:ext cx="7543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a 30 percent annual move as the planning case and a one-month 50 percent spike as the stress case. Buy protection during the calm stretch; 2025 was that stretch, March 2026 was the bill.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57200" y="2148840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AAAA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43000" y="2148840"/>
            <a:ext cx="7543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gold as a strategic allocation, not a trade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143000" y="2496312"/>
            <a:ext cx="7543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climb tracks reserve diversification by central banks, so hold a deliberate share built up gradually. Entering after a near-tripling means accepting correction risk.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3246120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AAAA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143000" y="3246120"/>
            <a:ext cx="7543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settling in dollars, build renminbi capability now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143000" y="3593592"/>
            <a:ext cx="7543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dollar remains the operational backbone. For trade with Asia, tested renminbi channels and a view on Hong Kong concentration are cheap insurance today.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4343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Crisis type decides direction: 2020 (demand shock) sent oil down 33.6% while metals rose 27%; 2022 (supply shock) did the reverse. Full analysis: report, workbook and four notebooks.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641080" y="4800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457</Words>
  <Application>Microsoft Office PowerPoint</Application>
  <PresentationFormat>On-screen Show (16:9)</PresentationFormat>
  <Paragraphs>55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Global Events, Commodities and Currency Markets</dc:title>
  <dc:subject>PptxGenJS Presentation</dc:subject>
  <dc:creator>Group 8</dc:creator>
  <cp:lastModifiedBy>Ivan Logutov</cp:lastModifiedBy>
  <cp:revision>2</cp:revision>
  <dcterms:created xsi:type="dcterms:W3CDTF">2026-07-05T12:18:45Z</dcterms:created>
  <dcterms:modified xsi:type="dcterms:W3CDTF">2026-07-07T09:07:30Z</dcterms:modified>
</cp:coreProperties>
</file>