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72" r:id="rId5"/>
    <p:sldId id="273" r:id="rId6"/>
    <p:sldId id="274" r:id="rId7"/>
    <p:sldId id="271" r:id="rId8"/>
    <p:sldId id="262" r:id="rId9"/>
    <p:sldId id="263" r:id="rId10"/>
    <p:sldId id="264" r:id="rId11"/>
    <p:sldId id="265" r:id="rId12"/>
    <p:sldId id="266" r:id="rId13"/>
    <p:sldId id="267" r:id="rId14"/>
    <p:sldId id="268" r:id="rId15"/>
    <p:sldId id="269" r:id="rId16"/>
    <p:sldId id="270"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48" y="4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35567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raw datasets: Brent oil 1946-2026, gold and silver 1915-2026, and four monthly SWIFT currency tracker reports. Everything in this deck is generated from those files by notebooks — no numbers typed by hand.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and specific here: EDA and cleaning were shared one dataset each, the two analysis parts were single-authored, the write-up was collective.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Weeks 2-4 overlap because Part I feeds Part II: the cleaned annual series from Part I are the input to the event analysis.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have ready. The flat 1946-1973 stretch is the era of administered posted prices, before OPEC, so volatility before and after 1973 is not comparable. And this series is inflation-adjusted: $211 in June 2008 is about $133 of 2008 money, which is why our peak looks higher than the number people remember. Every extreme here is also the highest MONTHLY reading, because the data has one observation per month.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0316270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flat shelves are fixed-price regimes: about $20.67 until 1933, then $35 under Bretton Woods until 1971. Gold only becomes a market price after Nixon closes the gold window in August 1971. On the record question: this series is nominal, so the 1980 peak of $668 is roughly $2,700 in 2026 money. Gold in 2026 is therefore a real record, but about twice the 1980 peak, not eight times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3658739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Silver's dual nature is the whole story: it rises with gold when the driver is monetary, and falls with oil when the driver is industrial demand. That is why it is the most volatile of the three.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070145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rPr lang="en-US" dirty="0"/>
              <a:t>This slide exists because the extremes question is fair. Say it plainly: our dataset is monthly, so our maximum is the highest monthly observation, not the true peak. Here are the real daily records for all three, from the primary sources. Three numbers to have ready: Brent's daily high is $146.08 on 3 July 2008 and its daily low is $9.12 on 21 April 2020; gold peaked intraday at $5,589.38 on 28 January 2026; silver peaked at $121.67 on 29 January 2026. If pressed on why our oil peak reads $211, the series is inflation-adjusted to current dollars, and Brent as a published benchmark only begins in May 1987.</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contrast: the renminbi is small in payments (3.10%, rank 5) but already second in trade finance (8.04%). Payments are a stock of installed infrastructure and move slowly; trade finance is renegotiated deal by deal, so it moves first. That is where de-dollarisation shows up first.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indexing is that it removes the scale problem: gold at $4,700 and silver at $88 cannot be plotted together in levels. Over 1970-2026 gold compounds fastest, but oil does the sharpest single moves.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does gold not rise in 2022 when there is a war?': because gold had already been bid up through 2020-21 on rate cuts, and 2022 brought aggressive rate rises, which raise the opportunity cost of holding a non-yielding asset. The reserve-freeze effect on gold shows up later, in 2023-2026 central bank buying.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strongest methodological point in the deck. Correlation of two trending price levels is a spurious-regression problem — Yule 1926, Granger and Newbold 1974. The standard fix is to difference the series, i.e. correlate returns. We report both and say which one supports which claim.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gold-oil has turned negative since about 2015: oil is now driven mostly by supply (shale, OPEC+), while gold is driven by real interest rates and reserve policy. A supply-driven oil spike is inflationary, which historically lifted gold, but since 2015 central banks respond by raising rates, which pushes gold down. The two effects cancel and then reverse.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to justify the claim that 2026 is not a panic. In a pure fear episode the ratio spikes, because investors buy gold and dump silver as an industrial metal. In 2026 the ratio is at its long-run average while both metals are at record highs — so the driver is monetary demand for both, not a flight to safety.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Real-world anchor: shipping through Hormuz was largely blocked from 28 February 2026; the IRGC declared closure to allied vessels on 27 March. Brent's reported intraday peak in early March was near $118 — higher than our $102.86 monthly reading, which is exactly the sampling point from slide 4. Conversely, a truce hypothesis: oil falls fastest, silver next, gold last and least, because gold has priced a change in monetary regime rather than a change in shipping.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use: knowing an event is bad tells you nothing about direction. You have to classify the mechanism first. Ask which of the four boxes an event falls into, then read the historical analogue.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three-speeds line. If there is time for one question, invite the correlation question — slide 11 is the answer.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B33"/>
        </a:solidFill>
        <a:effectLst/>
      </p:bgPr>
    </p:bg>
    <p:spTree>
      <p:nvGrpSpPr>
        <p:cNvPr id="1" name=""/>
        <p:cNvGrpSpPr/>
        <p:nvPr/>
      </p:nvGrpSpPr>
      <p:grpSpPr>
        <a:xfrm>
          <a:off x="0" y="0"/>
          <a:ext cx="0" cy="0"/>
          <a:chOff x="0" y="0"/>
          <a:chExt cx="0" cy="0"/>
        </a:xfrm>
      </p:grpSpPr>
      <p:sp>
        <p:nvSpPr>
          <p:cNvPr id="2" name="Text 0"/>
          <p:cNvSpPr/>
          <p:nvPr/>
        </p:nvSpPr>
        <p:spPr>
          <a:xfrm>
            <a:off x="640080" y="1051560"/>
            <a:ext cx="7863840" cy="274320"/>
          </a:xfrm>
          <a:prstGeom prst="rect">
            <a:avLst/>
          </a:prstGeom>
          <a:noFill/>
          <a:ln/>
        </p:spPr>
        <p:txBody>
          <a:bodyPr wrap="square" lIns="0" tIns="0" rIns="0" bIns="0" rtlCol="0" anchor="ctr"/>
          <a:lstStyle/>
          <a:p>
            <a:pPr marL="0" indent="0">
              <a:buNone/>
            </a:pPr>
            <a:r>
              <a:rPr lang="en-US" sz="1100" kern="0" spc="120" dirty="0">
                <a:solidFill>
                  <a:srgbClr val="8FA6B2"/>
                </a:solidFill>
                <a:latin typeface="Calibri" pitchFamily="34" charset="0"/>
                <a:ea typeface="Calibri" pitchFamily="34" charset="-122"/>
                <a:cs typeface="Calibri" pitchFamily="34" charset="-120"/>
              </a:rPr>
              <a:t>DSB Assignment   |   Group 8   |   July 2026</a:t>
            </a:r>
            <a:endParaRPr lang="en-US" sz="1100" dirty="0"/>
          </a:p>
        </p:txBody>
      </p:sp>
      <p:sp>
        <p:nvSpPr>
          <p:cNvPr id="3" name="Text 1"/>
          <p:cNvSpPr/>
          <p:nvPr/>
        </p:nvSpPr>
        <p:spPr>
          <a:xfrm>
            <a:off x="640080" y="1481328"/>
            <a:ext cx="7863840" cy="1371600"/>
          </a:xfrm>
          <a:prstGeom prst="rect">
            <a:avLst/>
          </a:prstGeom>
          <a:noFill/>
          <a:ln/>
        </p:spPr>
        <p:txBody>
          <a:bodyPr wrap="square" lIns="0" tIns="0" rIns="0" bIns="0" rtlCol="0" anchor="ctr"/>
          <a:lstStyle/>
          <a:p>
            <a:pPr marL="0" indent="0">
              <a:lnSpc>
                <a:spcPts val="4000"/>
              </a:lnSpc>
              <a:buNone/>
            </a:pPr>
            <a:r>
              <a:rPr lang="en-US" sz="3400" b="1" dirty="0">
                <a:solidFill>
                  <a:srgbClr val="FFFFFF"/>
                </a:solidFill>
                <a:latin typeface="Cambria" pitchFamily="34" charset="0"/>
                <a:ea typeface="Cambria" pitchFamily="34" charset="-122"/>
                <a:cs typeface="Cambria" pitchFamily="34" charset="-120"/>
              </a:rPr>
              <a:t>Global Events, Commodities</a:t>
            </a:r>
            <a:endParaRPr lang="en-US" sz="3400" dirty="0"/>
          </a:p>
          <a:p>
            <a:pPr marL="0" indent="0">
              <a:lnSpc>
                <a:spcPts val="4000"/>
              </a:lnSpc>
              <a:buNone/>
            </a:pPr>
            <a:r>
              <a:rPr lang="en-US" sz="3400" b="1" dirty="0">
                <a:solidFill>
                  <a:srgbClr val="FFFFFF"/>
                </a:solidFill>
                <a:latin typeface="Cambria" pitchFamily="34" charset="0"/>
                <a:ea typeface="Cambria" pitchFamily="34" charset="-122"/>
                <a:cs typeface="Cambria" pitchFamily="34" charset="-120"/>
              </a:rPr>
              <a:t>and Currency Markets</a:t>
            </a:r>
            <a:endParaRPr lang="en-US" sz="3400" dirty="0"/>
          </a:p>
        </p:txBody>
      </p:sp>
      <p:sp>
        <p:nvSpPr>
          <p:cNvPr id="4" name="Text 2"/>
          <p:cNvSpPr/>
          <p:nvPr/>
        </p:nvSpPr>
        <p:spPr>
          <a:xfrm>
            <a:off x="640080" y="2971800"/>
            <a:ext cx="6949440" cy="548640"/>
          </a:xfrm>
          <a:prstGeom prst="rect">
            <a:avLst/>
          </a:prstGeom>
          <a:noFill/>
          <a:ln/>
        </p:spPr>
        <p:txBody>
          <a:bodyPr wrap="square" lIns="0" tIns="0" rIns="0" bIns="0" rtlCol="0" anchor="ctr"/>
          <a:lstStyle/>
          <a:p>
            <a:pPr marL="0" indent="0">
              <a:lnSpc>
                <a:spcPts val="1700"/>
              </a:lnSpc>
              <a:buNone/>
            </a:pPr>
            <a:r>
              <a:rPr lang="en-US" sz="1200" dirty="0">
                <a:solidFill>
                  <a:srgbClr val="C3D2DA"/>
                </a:solidFill>
                <a:latin typeface="Calibri" pitchFamily="34" charset="0"/>
                <a:ea typeface="Calibri" pitchFamily="34" charset="-122"/>
                <a:cs typeface="Calibri" pitchFamily="34" charset="-120"/>
              </a:rPr>
              <a:t>Brent oil, gold and silver since 1915, the global events that moved them, and the currencies the world settles in.</a:t>
            </a:r>
            <a:endParaRPr lang="en-US" sz="1200" dirty="0"/>
          </a:p>
        </p:txBody>
      </p:sp>
      <p:sp>
        <p:nvSpPr>
          <p:cNvPr id="5" name="Text 3"/>
          <p:cNvSpPr/>
          <p:nvPr/>
        </p:nvSpPr>
        <p:spPr>
          <a:xfrm>
            <a:off x="640080" y="3977640"/>
            <a:ext cx="7863840" cy="274320"/>
          </a:xfrm>
          <a:prstGeom prst="rect">
            <a:avLst/>
          </a:prstGeom>
          <a:noFill/>
          <a:ln/>
        </p:spPr>
        <p:txBody>
          <a:bodyPr wrap="square" lIns="0" tIns="0" rIns="0" bIns="0" rtlCol="0" anchor="ctr"/>
          <a:lstStyle/>
          <a:p>
            <a:pPr marL="0" indent="0">
              <a:buNone/>
            </a:pPr>
            <a:r>
              <a:rPr lang="en-US" sz="1050" dirty="0">
                <a:solidFill>
                  <a:srgbClr val="8FA6B2"/>
                </a:solidFill>
                <a:latin typeface="Calibri" pitchFamily="34" charset="0"/>
                <a:ea typeface="Calibri" pitchFamily="34" charset="-122"/>
                <a:cs typeface="Calibri" pitchFamily="34" charset="-120"/>
              </a:rPr>
              <a:t>Ivan Logutov   |   Siddhant Mathapati   |   Sudheer Chowdary   |   Muthoju Sandeep</a:t>
            </a:r>
            <a:endParaRPr lang="en-US" sz="1050" dirty="0"/>
          </a:p>
        </p:txBody>
      </p:sp>
      <p:sp>
        <p:nvSpPr>
          <p:cNvPr id="6" name="Text 4"/>
          <p:cNvSpPr/>
          <p:nvPr/>
        </p:nvSpPr>
        <p:spPr>
          <a:xfrm>
            <a:off x="640080" y="4261104"/>
            <a:ext cx="7863840" cy="274320"/>
          </a:xfrm>
          <a:prstGeom prst="rect">
            <a:avLst/>
          </a:prstGeom>
          <a:noFill/>
          <a:ln/>
        </p:spPr>
        <p:txBody>
          <a:bodyPr wrap="square" lIns="0" tIns="0" rIns="0" bIns="0" rtlCol="0" anchor="ctr"/>
          <a:lstStyle/>
          <a:p>
            <a:pPr marL="0" indent="0">
              <a:buNone/>
            </a:pPr>
            <a:r>
              <a:rPr lang="en-US" sz="950" dirty="0">
                <a:solidFill>
                  <a:srgbClr val="6E838F"/>
                </a:solidFill>
                <a:latin typeface="Calibri" pitchFamily="34" charset="0"/>
                <a:ea typeface="Calibri" pitchFamily="34" charset="-122"/>
                <a:cs typeface="Calibri" pitchFamily="34" charset="-120"/>
              </a:rPr>
              <a:t>University of Europe for Applied Sciences  ·  Department of Business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549640" y="4773168"/>
            <a:ext cx="365760" cy="228600"/>
          </a:xfrm>
          <a:prstGeom prst="rect">
            <a:avLst/>
          </a:prstGeom>
          <a:noFill/>
          <a:ln/>
        </p:spPr>
        <p:txBody>
          <a:bodyPr wrap="square" rtlCol="0" anchor="ctr"/>
          <a:lstStyle/>
          <a:p>
            <a:pPr marL="0" indent="0" algn="r">
              <a:buNone/>
            </a:pPr>
            <a:r>
              <a:rPr lang="en-US" sz="900" dirty="0">
                <a:solidFill>
                  <a:srgbClr val="8C8C8C"/>
                </a:solidFill>
                <a:latin typeface="Calibri" pitchFamily="34" charset="0"/>
                <a:ea typeface="Calibri" pitchFamily="34" charset="-122"/>
                <a:cs typeface="Calibri" pitchFamily="34" charset="-120"/>
              </a:rPr>
              <a:t>2</a:t>
            </a:r>
            <a:endParaRPr lang="en-US" sz="900" dirty="0"/>
          </a:p>
        </p:txBody>
      </p:sp>
      <p:sp>
        <p:nvSpPr>
          <p:cNvPr id="3" name="Text 1"/>
          <p:cNvSpPr/>
          <p:nvPr/>
        </p:nvSpPr>
        <p:spPr>
          <a:xfrm>
            <a:off x="457200" y="219456"/>
            <a:ext cx="8229600" cy="420624"/>
          </a:xfrm>
          <a:prstGeom prst="rect">
            <a:avLst/>
          </a:prstGeom>
          <a:noFill/>
          <a:ln/>
        </p:spPr>
        <p:txBody>
          <a:bodyPr wrap="square" lIns="0" tIns="0" rIns="0" bIns="0" rtlCol="0" anchor="ctr"/>
          <a:lstStyle/>
          <a:p>
            <a:pPr marL="0" indent="0">
              <a:buNone/>
            </a:pPr>
            <a:r>
              <a:rPr lang="en-US" sz="2200" b="1" dirty="0">
                <a:solidFill>
                  <a:srgbClr val="212121"/>
                </a:solidFill>
                <a:latin typeface="Cambria" pitchFamily="34" charset="0"/>
                <a:ea typeface="Cambria" pitchFamily="34" charset="-122"/>
                <a:cs typeface="Cambria" pitchFamily="34" charset="-120"/>
              </a:rPr>
              <a:t>Team</a:t>
            </a:r>
            <a:endParaRPr lang="en-US" sz="2200" dirty="0"/>
          </a:p>
        </p:txBody>
      </p:sp>
      <p:sp>
        <p:nvSpPr>
          <p:cNvPr id="4" name="Text 2"/>
          <p:cNvSpPr/>
          <p:nvPr/>
        </p:nvSpPr>
        <p:spPr>
          <a:xfrm>
            <a:off x="457200" y="649224"/>
            <a:ext cx="8229600" cy="237744"/>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Who did which dataset and which part</a:t>
            </a:r>
            <a:endParaRPr lang="en-US" sz="1100" dirty="0"/>
          </a:p>
        </p:txBody>
      </p:sp>
      <p:sp>
        <p:nvSpPr>
          <p:cNvPr id="5" name="Shape 3"/>
          <p:cNvSpPr/>
          <p:nvPr/>
        </p:nvSpPr>
        <p:spPr>
          <a:xfrm>
            <a:off x="457200" y="1078992"/>
            <a:ext cx="3977640" cy="1353312"/>
          </a:xfrm>
          <a:prstGeom prst="roundRect">
            <a:avLst>
              <a:gd name="adj" fmla="val 4054"/>
            </a:avLst>
          </a:prstGeom>
          <a:solidFill>
            <a:srgbClr val="F6F5F2"/>
          </a:solidFill>
          <a:ln w="12700">
            <a:solidFill>
              <a:srgbClr val="FFFFFF"/>
            </a:solidFill>
            <a:prstDash val="solid"/>
          </a:ln>
        </p:spPr>
        <p:txBody>
          <a:bodyPr/>
          <a:lstStyle/>
          <a:p>
            <a:endParaRPr/>
          </a:p>
        </p:txBody>
      </p:sp>
      <p:sp>
        <p:nvSpPr>
          <p:cNvPr id="6" name="Shape 4"/>
          <p:cNvSpPr/>
          <p:nvPr/>
        </p:nvSpPr>
        <p:spPr>
          <a:xfrm>
            <a:off x="658368" y="1298448"/>
            <a:ext cx="310896" cy="310896"/>
          </a:xfrm>
          <a:prstGeom prst="ellipse">
            <a:avLst/>
          </a:prstGeom>
          <a:solidFill>
            <a:srgbClr val="2F4858"/>
          </a:solidFill>
          <a:ln w="12700">
            <a:solidFill>
              <a:srgbClr val="FFFFFF"/>
            </a:solidFill>
            <a:prstDash val="solid"/>
          </a:ln>
        </p:spPr>
        <p:txBody>
          <a:bodyPr/>
          <a:lstStyle/>
          <a:p>
            <a:endParaRPr/>
          </a:p>
        </p:txBody>
      </p:sp>
      <p:sp>
        <p:nvSpPr>
          <p:cNvPr id="7" name="Text 5"/>
          <p:cNvSpPr/>
          <p:nvPr/>
        </p:nvSpPr>
        <p:spPr>
          <a:xfrm>
            <a:off x="658368" y="1298448"/>
            <a:ext cx="310896"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SM</a:t>
            </a:r>
            <a:endParaRPr lang="en-US" sz="900" dirty="0"/>
          </a:p>
        </p:txBody>
      </p:sp>
      <p:sp>
        <p:nvSpPr>
          <p:cNvPr id="8" name="Text 6"/>
          <p:cNvSpPr/>
          <p:nvPr/>
        </p:nvSpPr>
        <p:spPr>
          <a:xfrm>
            <a:off x="1078992" y="1261872"/>
            <a:ext cx="3154680" cy="219456"/>
          </a:xfrm>
          <a:prstGeom prst="rect">
            <a:avLst/>
          </a:prstGeom>
          <a:noFill/>
          <a:ln/>
        </p:spPr>
        <p:txBody>
          <a:bodyPr wrap="square" lIns="0" tIns="0" rIns="0" bIns="0" rtlCol="0" anchor="ctr"/>
          <a:lstStyle/>
          <a:p>
            <a:pPr marL="0" indent="0">
              <a:buNone/>
            </a:pPr>
            <a:r>
              <a:rPr lang="en-US" sz="1300" b="1" dirty="0">
                <a:solidFill>
                  <a:srgbClr val="212121"/>
                </a:solidFill>
                <a:latin typeface="Cambria" pitchFamily="34" charset="0"/>
                <a:ea typeface="Cambria" pitchFamily="34" charset="-122"/>
                <a:cs typeface="Cambria" pitchFamily="34" charset="-120"/>
              </a:rPr>
              <a:t>Siddhant Mathapati</a:t>
            </a:r>
            <a:endParaRPr lang="en-US" sz="1300" dirty="0"/>
          </a:p>
        </p:txBody>
      </p:sp>
      <p:sp>
        <p:nvSpPr>
          <p:cNvPr id="9" name="Text 7"/>
          <p:cNvSpPr/>
          <p:nvPr/>
        </p:nvSpPr>
        <p:spPr>
          <a:xfrm>
            <a:off x="1078992" y="1481328"/>
            <a:ext cx="3154680" cy="182880"/>
          </a:xfrm>
          <a:prstGeom prst="rect">
            <a:avLst/>
          </a:prstGeom>
          <a:noFill/>
          <a:ln/>
        </p:spPr>
        <p:txBody>
          <a:bodyPr wrap="square" lIns="0" tIns="0" rIns="0" bIns="0" rtlCol="0" anchor="ctr"/>
          <a:lstStyle/>
          <a:p>
            <a:pPr marL="0" indent="0">
              <a:buNone/>
            </a:pPr>
            <a:r>
              <a:rPr lang="en-US" sz="850" kern="0" spc="100" dirty="0">
                <a:solidFill>
                  <a:srgbClr val="2F4858"/>
                </a:solidFill>
                <a:latin typeface="Calibri" pitchFamily="34" charset="0"/>
                <a:ea typeface="Calibri" pitchFamily="34" charset="-122"/>
                <a:cs typeface="Calibri" pitchFamily="34" charset="-120"/>
              </a:rPr>
              <a:t>TEAM LEAD</a:t>
            </a:r>
            <a:endParaRPr lang="en-US" sz="850" dirty="0"/>
          </a:p>
        </p:txBody>
      </p:sp>
      <p:sp>
        <p:nvSpPr>
          <p:cNvPr id="10" name="Text 8"/>
          <p:cNvSpPr/>
          <p:nvPr/>
        </p:nvSpPr>
        <p:spPr>
          <a:xfrm>
            <a:off x="658368" y="1737360"/>
            <a:ext cx="3575304" cy="585216"/>
          </a:xfrm>
          <a:prstGeom prst="rect">
            <a:avLst/>
          </a:prstGeom>
          <a:noFill/>
          <a:ln/>
        </p:spPr>
        <p:txBody>
          <a:bodyPr wrap="square" lIns="0" tIns="0" rIns="0" bIns="0" rtlCol="0" anchor="t"/>
          <a:lstStyle/>
          <a:p>
            <a:pPr marL="0" indent="0">
              <a:lnSpc>
                <a:spcPts val="1300"/>
              </a:lnSpc>
              <a:buNone/>
            </a:pPr>
            <a:r>
              <a:rPr lang="en-US" sz="1000" dirty="0">
                <a:solidFill>
                  <a:srgbClr val="666666"/>
                </a:solidFill>
                <a:latin typeface="Calibri" pitchFamily="34" charset="0"/>
                <a:ea typeface="Calibri" pitchFamily="34" charset="-122"/>
                <a:cs typeface="Calibri" pitchFamily="34" charset="-120"/>
              </a:rPr>
              <a:t>Brent oil EDA · Brent oil dataset cleaning · coordination and deadlines</a:t>
            </a:r>
            <a:endParaRPr lang="en-US" sz="1000" dirty="0"/>
          </a:p>
        </p:txBody>
      </p:sp>
      <p:sp>
        <p:nvSpPr>
          <p:cNvPr id="11" name="Shape 9"/>
          <p:cNvSpPr/>
          <p:nvPr/>
        </p:nvSpPr>
        <p:spPr>
          <a:xfrm>
            <a:off x="4709160" y="1078992"/>
            <a:ext cx="3977640" cy="1353312"/>
          </a:xfrm>
          <a:prstGeom prst="roundRect">
            <a:avLst>
              <a:gd name="adj" fmla="val 4054"/>
            </a:avLst>
          </a:prstGeom>
          <a:solidFill>
            <a:srgbClr val="F6F5F2"/>
          </a:solidFill>
          <a:ln w="12700">
            <a:solidFill>
              <a:srgbClr val="FFFFFF"/>
            </a:solidFill>
            <a:prstDash val="solid"/>
          </a:ln>
        </p:spPr>
        <p:txBody>
          <a:bodyPr/>
          <a:lstStyle/>
          <a:p>
            <a:endParaRPr/>
          </a:p>
        </p:txBody>
      </p:sp>
      <p:sp>
        <p:nvSpPr>
          <p:cNvPr id="12" name="Shape 10"/>
          <p:cNvSpPr/>
          <p:nvPr/>
        </p:nvSpPr>
        <p:spPr>
          <a:xfrm>
            <a:off x="4910328" y="1298448"/>
            <a:ext cx="310896" cy="310896"/>
          </a:xfrm>
          <a:prstGeom prst="ellipse">
            <a:avLst/>
          </a:prstGeom>
          <a:solidFill>
            <a:srgbClr val="B8860B"/>
          </a:solidFill>
          <a:ln w="12700">
            <a:solidFill>
              <a:srgbClr val="FFFFFF"/>
            </a:solidFill>
            <a:prstDash val="solid"/>
          </a:ln>
        </p:spPr>
        <p:txBody>
          <a:bodyPr/>
          <a:lstStyle/>
          <a:p>
            <a:endParaRPr/>
          </a:p>
        </p:txBody>
      </p:sp>
      <p:sp>
        <p:nvSpPr>
          <p:cNvPr id="13" name="Text 11"/>
          <p:cNvSpPr/>
          <p:nvPr/>
        </p:nvSpPr>
        <p:spPr>
          <a:xfrm>
            <a:off x="4910328" y="1298448"/>
            <a:ext cx="310896"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IL</a:t>
            </a:r>
            <a:endParaRPr lang="en-US" sz="900" dirty="0"/>
          </a:p>
        </p:txBody>
      </p:sp>
      <p:sp>
        <p:nvSpPr>
          <p:cNvPr id="14" name="Text 12"/>
          <p:cNvSpPr/>
          <p:nvPr/>
        </p:nvSpPr>
        <p:spPr>
          <a:xfrm>
            <a:off x="5330952" y="1261872"/>
            <a:ext cx="3154680" cy="219456"/>
          </a:xfrm>
          <a:prstGeom prst="rect">
            <a:avLst/>
          </a:prstGeom>
          <a:noFill/>
          <a:ln/>
        </p:spPr>
        <p:txBody>
          <a:bodyPr wrap="square" lIns="0" tIns="0" rIns="0" bIns="0" rtlCol="0" anchor="ctr"/>
          <a:lstStyle/>
          <a:p>
            <a:pPr marL="0" indent="0">
              <a:buNone/>
            </a:pPr>
            <a:r>
              <a:rPr lang="en-US" sz="1300" b="1" dirty="0">
                <a:solidFill>
                  <a:srgbClr val="212121"/>
                </a:solidFill>
                <a:latin typeface="Cambria" pitchFamily="34" charset="0"/>
                <a:ea typeface="Cambria" pitchFamily="34" charset="-122"/>
                <a:cs typeface="Cambria" pitchFamily="34" charset="-120"/>
              </a:rPr>
              <a:t>Ivan Logutov</a:t>
            </a:r>
            <a:endParaRPr lang="en-US" sz="1300" dirty="0"/>
          </a:p>
        </p:txBody>
      </p:sp>
      <p:sp>
        <p:nvSpPr>
          <p:cNvPr id="15" name="Text 13"/>
          <p:cNvSpPr/>
          <p:nvPr/>
        </p:nvSpPr>
        <p:spPr>
          <a:xfrm>
            <a:off x="5330952" y="1481328"/>
            <a:ext cx="3154680" cy="182880"/>
          </a:xfrm>
          <a:prstGeom prst="rect">
            <a:avLst/>
          </a:prstGeom>
          <a:noFill/>
          <a:ln/>
        </p:spPr>
        <p:txBody>
          <a:bodyPr wrap="square" lIns="0" tIns="0" rIns="0" bIns="0" rtlCol="0" anchor="ctr"/>
          <a:lstStyle/>
          <a:p>
            <a:pPr marL="0" indent="0">
              <a:buNone/>
            </a:pPr>
            <a:r>
              <a:rPr lang="en-US" sz="850" kern="0" spc="100" dirty="0">
                <a:solidFill>
                  <a:srgbClr val="B8860B"/>
                </a:solidFill>
                <a:latin typeface="Calibri" pitchFamily="34" charset="0"/>
                <a:ea typeface="Calibri" pitchFamily="34" charset="-122"/>
                <a:cs typeface="Calibri" pitchFamily="34" charset="-120"/>
              </a:rPr>
              <a:t>CO-LEAD</a:t>
            </a:r>
            <a:endParaRPr lang="en-US" sz="850" dirty="0"/>
          </a:p>
        </p:txBody>
      </p:sp>
      <p:sp>
        <p:nvSpPr>
          <p:cNvPr id="16" name="Text 14"/>
          <p:cNvSpPr/>
          <p:nvPr/>
        </p:nvSpPr>
        <p:spPr>
          <a:xfrm>
            <a:off x="4910328" y="1737360"/>
            <a:ext cx="3575304" cy="585216"/>
          </a:xfrm>
          <a:prstGeom prst="rect">
            <a:avLst/>
          </a:prstGeom>
          <a:noFill/>
          <a:ln/>
        </p:spPr>
        <p:txBody>
          <a:bodyPr wrap="square" lIns="0" tIns="0" rIns="0" bIns="0" rtlCol="0" anchor="t"/>
          <a:lstStyle/>
          <a:p>
            <a:pPr marL="0" indent="0">
              <a:lnSpc>
                <a:spcPts val="1300"/>
              </a:lnSpc>
              <a:buNone/>
            </a:pPr>
            <a:r>
              <a:rPr lang="en-US" sz="1000" dirty="0">
                <a:solidFill>
                  <a:srgbClr val="666666"/>
                </a:solidFill>
                <a:latin typeface="Calibri" pitchFamily="34" charset="0"/>
                <a:ea typeface="Calibri" pitchFamily="34" charset="-122"/>
                <a:cs typeface="Calibri" pitchFamily="34" charset="-120"/>
              </a:rPr>
              <a:t>Gold EDA · gold dataset cleaning · Part I descriptive statistics and trends · Part II market research and event analysis</a:t>
            </a:r>
            <a:endParaRPr lang="en-US" sz="1000" dirty="0"/>
          </a:p>
        </p:txBody>
      </p:sp>
      <p:sp>
        <p:nvSpPr>
          <p:cNvPr id="17" name="Shape 15"/>
          <p:cNvSpPr/>
          <p:nvPr/>
        </p:nvSpPr>
        <p:spPr>
          <a:xfrm>
            <a:off x="457200" y="2670048"/>
            <a:ext cx="3977640" cy="1353312"/>
          </a:xfrm>
          <a:prstGeom prst="roundRect">
            <a:avLst>
              <a:gd name="adj" fmla="val 4054"/>
            </a:avLst>
          </a:prstGeom>
          <a:solidFill>
            <a:srgbClr val="F6F5F2"/>
          </a:solidFill>
          <a:ln w="12700">
            <a:solidFill>
              <a:srgbClr val="FFFFFF"/>
            </a:solidFill>
            <a:prstDash val="solid"/>
          </a:ln>
        </p:spPr>
        <p:txBody>
          <a:bodyPr/>
          <a:lstStyle/>
          <a:p>
            <a:endParaRPr/>
          </a:p>
        </p:txBody>
      </p:sp>
      <p:sp>
        <p:nvSpPr>
          <p:cNvPr id="18" name="Shape 16"/>
          <p:cNvSpPr/>
          <p:nvPr/>
        </p:nvSpPr>
        <p:spPr>
          <a:xfrm>
            <a:off x="658368" y="2889504"/>
            <a:ext cx="310896" cy="310896"/>
          </a:xfrm>
          <a:prstGeom prst="ellipse">
            <a:avLst/>
          </a:prstGeom>
          <a:solidFill>
            <a:srgbClr val="2C5F5D"/>
          </a:solidFill>
          <a:ln w="12700">
            <a:solidFill>
              <a:srgbClr val="FFFFFF"/>
            </a:solidFill>
            <a:prstDash val="solid"/>
          </a:ln>
        </p:spPr>
        <p:txBody>
          <a:bodyPr/>
          <a:lstStyle/>
          <a:p>
            <a:endParaRPr/>
          </a:p>
        </p:txBody>
      </p:sp>
      <p:sp>
        <p:nvSpPr>
          <p:cNvPr id="19" name="Text 17"/>
          <p:cNvSpPr/>
          <p:nvPr/>
        </p:nvSpPr>
        <p:spPr>
          <a:xfrm>
            <a:off x="658368" y="2889504"/>
            <a:ext cx="310896"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SC</a:t>
            </a:r>
            <a:endParaRPr lang="en-US" sz="900" dirty="0"/>
          </a:p>
        </p:txBody>
      </p:sp>
      <p:sp>
        <p:nvSpPr>
          <p:cNvPr id="20" name="Text 18"/>
          <p:cNvSpPr/>
          <p:nvPr/>
        </p:nvSpPr>
        <p:spPr>
          <a:xfrm>
            <a:off x="1078992" y="2852928"/>
            <a:ext cx="3154680" cy="219456"/>
          </a:xfrm>
          <a:prstGeom prst="rect">
            <a:avLst/>
          </a:prstGeom>
          <a:noFill/>
          <a:ln/>
        </p:spPr>
        <p:txBody>
          <a:bodyPr wrap="square" lIns="0" tIns="0" rIns="0" bIns="0" rtlCol="0" anchor="ctr"/>
          <a:lstStyle/>
          <a:p>
            <a:pPr marL="0" indent="0">
              <a:buNone/>
            </a:pPr>
            <a:r>
              <a:rPr lang="en-US" sz="1300" b="1" dirty="0">
                <a:solidFill>
                  <a:srgbClr val="212121"/>
                </a:solidFill>
                <a:latin typeface="Cambria" pitchFamily="34" charset="0"/>
                <a:ea typeface="Cambria" pitchFamily="34" charset="-122"/>
                <a:cs typeface="Cambria" pitchFamily="34" charset="-120"/>
              </a:rPr>
              <a:t>Sudheer Chowdary</a:t>
            </a:r>
            <a:endParaRPr lang="en-US" sz="1300" dirty="0"/>
          </a:p>
        </p:txBody>
      </p:sp>
      <p:sp>
        <p:nvSpPr>
          <p:cNvPr id="21" name="Text 19"/>
          <p:cNvSpPr/>
          <p:nvPr/>
        </p:nvSpPr>
        <p:spPr>
          <a:xfrm>
            <a:off x="1078992" y="3072384"/>
            <a:ext cx="3154680" cy="182880"/>
          </a:xfrm>
          <a:prstGeom prst="rect">
            <a:avLst/>
          </a:prstGeom>
          <a:noFill/>
          <a:ln/>
        </p:spPr>
        <p:txBody>
          <a:bodyPr wrap="square" lIns="0" tIns="0" rIns="0" bIns="0" rtlCol="0" anchor="ctr"/>
          <a:lstStyle/>
          <a:p>
            <a:pPr marL="0" indent="0">
              <a:buNone/>
            </a:pPr>
            <a:r>
              <a:rPr lang="en-US" sz="850" kern="0" spc="100" dirty="0">
                <a:solidFill>
                  <a:srgbClr val="2C5F5D"/>
                </a:solidFill>
                <a:latin typeface="Calibri" pitchFamily="34" charset="0"/>
                <a:ea typeface="Calibri" pitchFamily="34" charset="-122"/>
                <a:cs typeface="Calibri" pitchFamily="34" charset="-120"/>
              </a:rPr>
              <a:t>CONTRIBUTOR</a:t>
            </a:r>
            <a:endParaRPr lang="en-US" sz="850" dirty="0"/>
          </a:p>
        </p:txBody>
      </p:sp>
      <p:sp>
        <p:nvSpPr>
          <p:cNvPr id="22" name="Text 20"/>
          <p:cNvSpPr/>
          <p:nvPr/>
        </p:nvSpPr>
        <p:spPr>
          <a:xfrm>
            <a:off x="658368" y="3328416"/>
            <a:ext cx="3575304" cy="585216"/>
          </a:xfrm>
          <a:prstGeom prst="rect">
            <a:avLst/>
          </a:prstGeom>
          <a:noFill/>
          <a:ln/>
        </p:spPr>
        <p:txBody>
          <a:bodyPr wrap="square" lIns="0" tIns="0" rIns="0" bIns="0" rtlCol="0" anchor="t"/>
          <a:lstStyle/>
          <a:p>
            <a:pPr marL="0" indent="0">
              <a:lnSpc>
                <a:spcPts val="1300"/>
              </a:lnSpc>
              <a:buNone/>
            </a:pPr>
            <a:r>
              <a:rPr lang="en-US" sz="1000" dirty="0">
                <a:solidFill>
                  <a:srgbClr val="666666"/>
                </a:solidFill>
                <a:latin typeface="Calibri" pitchFamily="34" charset="0"/>
                <a:ea typeface="Calibri" pitchFamily="34" charset="-122"/>
                <a:cs typeface="Calibri" pitchFamily="34" charset="-120"/>
              </a:rPr>
              <a:t>SWIFT currency tracker EDA · SWIFT dataset cleaning</a:t>
            </a:r>
            <a:endParaRPr lang="en-US" sz="1000" dirty="0"/>
          </a:p>
        </p:txBody>
      </p:sp>
      <p:sp>
        <p:nvSpPr>
          <p:cNvPr id="23" name="Shape 21"/>
          <p:cNvSpPr/>
          <p:nvPr/>
        </p:nvSpPr>
        <p:spPr>
          <a:xfrm>
            <a:off x="4709160" y="2670048"/>
            <a:ext cx="3977640" cy="1353312"/>
          </a:xfrm>
          <a:prstGeom prst="roundRect">
            <a:avLst>
              <a:gd name="adj" fmla="val 4054"/>
            </a:avLst>
          </a:prstGeom>
          <a:solidFill>
            <a:srgbClr val="F6F5F2"/>
          </a:solidFill>
          <a:ln w="12700">
            <a:solidFill>
              <a:srgbClr val="FFFFFF"/>
            </a:solidFill>
            <a:prstDash val="solid"/>
          </a:ln>
        </p:spPr>
        <p:txBody>
          <a:bodyPr/>
          <a:lstStyle/>
          <a:p>
            <a:endParaRPr/>
          </a:p>
        </p:txBody>
      </p:sp>
      <p:sp>
        <p:nvSpPr>
          <p:cNvPr id="24" name="Shape 22"/>
          <p:cNvSpPr/>
          <p:nvPr/>
        </p:nvSpPr>
        <p:spPr>
          <a:xfrm>
            <a:off x="4910328" y="2889504"/>
            <a:ext cx="310896" cy="310896"/>
          </a:xfrm>
          <a:prstGeom prst="ellipse">
            <a:avLst/>
          </a:prstGeom>
          <a:solidFill>
            <a:srgbClr val="8A9BA8"/>
          </a:solidFill>
          <a:ln w="12700">
            <a:solidFill>
              <a:srgbClr val="FFFFFF"/>
            </a:solidFill>
            <a:prstDash val="solid"/>
          </a:ln>
        </p:spPr>
        <p:txBody>
          <a:bodyPr/>
          <a:lstStyle/>
          <a:p>
            <a:endParaRPr/>
          </a:p>
        </p:txBody>
      </p:sp>
      <p:sp>
        <p:nvSpPr>
          <p:cNvPr id="25" name="Text 23"/>
          <p:cNvSpPr/>
          <p:nvPr/>
        </p:nvSpPr>
        <p:spPr>
          <a:xfrm>
            <a:off x="4910328" y="2889504"/>
            <a:ext cx="310896"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MS</a:t>
            </a:r>
            <a:endParaRPr lang="en-US" sz="900" dirty="0"/>
          </a:p>
        </p:txBody>
      </p:sp>
      <p:sp>
        <p:nvSpPr>
          <p:cNvPr id="26" name="Text 24"/>
          <p:cNvSpPr/>
          <p:nvPr/>
        </p:nvSpPr>
        <p:spPr>
          <a:xfrm>
            <a:off x="5330952" y="2852928"/>
            <a:ext cx="3154680" cy="219456"/>
          </a:xfrm>
          <a:prstGeom prst="rect">
            <a:avLst/>
          </a:prstGeom>
          <a:noFill/>
          <a:ln/>
        </p:spPr>
        <p:txBody>
          <a:bodyPr wrap="square" lIns="0" tIns="0" rIns="0" bIns="0" rtlCol="0" anchor="ctr"/>
          <a:lstStyle/>
          <a:p>
            <a:pPr marL="0" indent="0">
              <a:buNone/>
            </a:pPr>
            <a:r>
              <a:rPr lang="en-US" sz="1300" b="1" dirty="0">
                <a:solidFill>
                  <a:srgbClr val="212121"/>
                </a:solidFill>
                <a:latin typeface="Cambria" pitchFamily="34" charset="0"/>
                <a:ea typeface="Cambria" pitchFamily="34" charset="-122"/>
                <a:cs typeface="Cambria" pitchFamily="34" charset="-120"/>
              </a:rPr>
              <a:t>Muthoju Sandeep</a:t>
            </a:r>
            <a:endParaRPr lang="en-US" sz="1300" dirty="0"/>
          </a:p>
        </p:txBody>
      </p:sp>
      <p:sp>
        <p:nvSpPr>
          <p:cNvPr id="27" name="Text 25"/>
          <p:cNvSpPr/>
          <p:nvPr/>
        </p:nvSpPr>
        <p:spPr>
          <a:xfrm>
            <a:off x="5330952" y="3072384"/>
            <a:ext cx="3154680" cy="182880"/>
          </a:xfrm>
          <a:prstGeom prst="rect">
            <a:avLst/>
          </a:prstGeom>
          <a:noFill/>
          <a:ln/>
        </p:spPr>
        <p:txBody>
          <a:bodyPr wrap="square" lIns="0" tIns="0" rIns="0" bIns="0" rtlCol="0" anchor="ctr"/>
          <a:lstStyle/>
          <a:p>
            <a:pPr marL="0" indent="0">
              <a:buNone/>
            </a:pPr>
            <a:r>
              <a:rPr lang="en-US" sz="850" kern="0" spc="100" dirty="0">
                <a:solidFill>
                  <a:srgbClr val="8A9BA8"/>
                </a:solidFill>
                <a:latin typeface="Calibri" pitchFamily="34" charset="0"/>
                <a:ea typeface="Calibri" pitchFamily="34" charset="-122"/>
                <a:cs typeface="Calibri" pitchFamily="34" charset="-120"/>
              </a:rPr>
              <a:t>CONTRIBUTOR</a:t>
            </a:r>
            <a:endParaRPr lang="en-US" sz="850" dirty="0"/>
          </a:p>
        </p:txBody>
      </p:sp>
      <p:sp>
        <p:nvSpPr>
          <p:cNvPr id="28" name="Text 26"/>
          <p:cNvSpPr/>
          <p:nvPr/>
        </p:nvSpPr>
        <p:spPr>
          <a:xfrm>
            <a:off x="4910328" y="3328416"/>
            <a:ext cx="3575304" cy="585216"/>
          </a:xfrm>
          <a:prstGeom prst="rect">
            <a:avLst/>
          </a:prstGeom>
          <a:noFill/>
          <a:ln/>
        </p:spPr>
        <p:txBody>
          <a:bodyPr wrap="square" lIns="0" tIns="0" rIns="0" bIns="0" rtlCol="0" anchor="t"/>
          <a:lstStyle/>
          <a:p>
            <a:pPr marL="0" indent="0">
              <a:lnSpc>
                <a:spcPts val="1300"/>
              </a:lnSpc>
              <a:buNone/>
            </a:pPr>
            <a:r>
              <a:rPr lang="en-US" sz="1000" dirty="0">
                <a:solidFill>
                  <a:srgbClr val="666666"/>
                </a:solidFill>
                <a:latin typeface="Calibri" pitchFamily="34" charset="0"/>
                <a:ea typeface="Calibri" pitchFamily="34" charset="-122"/>
                <a:cs typeface="Calibri" pitchFamily="34" charset="-120"/>
              </a:rPr>
              <a:t>Silver EDA · silver dataset cleaning</a:t>
            </a:r>
            <a:endParaRPr lang="en-US" sz="1000" dirty="0"/>
          </a:p>
        </p:txBody>
      </p:sp>
      <p:sp>
        <p:nvSpPr>
          <p:cNvPr id="29" name="Text 27"/>
          <p:cNvSpPr/>
          <p:nvPr/>
        </p:nvSpPr>
        <p:spPr>
          <a:xfrm>
            <a:off x="457200" y="4224528"/>
            <a:ext cx="8229600" cy="457200"/>
          </a:xfrm>
          <a:prstGeom prst="rect">
            <a:avLst/>
          </a:prstGeom>
          <a:noFill/>
          <a:ln/>
        </p:spPr>
        <p:txBody>
          <a:bodyPr wrap="square" lIns="0" tIns="0" rIns="0" bIns="0" rtlCol="0" anchor="t"/>
          <a:lstStyle/>
          <a:p>
            <a:pPr marL="0" indent="0">
              <a:lnSpc>
                <a:spcPts val="1400"/>
              </a:lnSpc>
              <a:buNone/>
            </a:pP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549640" y="4773168"/>
            <a:ext cx="365760" cy="228600"/>
          </a:xfrm>
          <a:prstGeom prst="rect">
            <a:avLst/>
          </a:prstGeom>
          <a:noFill/>
          <a:ln/>
        </p:spPr>
        <p:txBody>
          <a:bodyPr wrap="square" rtlCol="0" anchor="ctr"/>
          <a:lstStyle/>
          <a:p>
            <a:pPr marL="0" indent="0" algn="r">
              <a:buNone/>
            </a:pPr>
            <a:r>
              <a:rPr lang="en-US" sz="900" dirty="0">
                <a:solidFill>
                  <a:srgbClr val="8C8C8C"/>
                </a:solidFill>
                <a:latin typeface="Calibri" pitchFamily="34" charset="0"/>
                <a:ea typeface="Calibri" pitchFamily="34" charset="-122"/>
                <a:cs typeface="Calibri" pitchFamily="34" charset="-120"/>
              </a:rPr>
              <a:t>3</a:t>
            </a:r>
            <a:endParaRPr lang="en-US" sz="900" dirty="0"/>
          </a:p>
        </p:txBody>
      </p:sp>
      <p:sp>
        <p:nvSpPr>
          <p:cNvPr id="3" name="Text 1"/>
          <p:cNvSpPr/>
          <p:nvPr/>
        </p:nvSpPr>
        <p:spPr>
          <a:xfrm>
            <a:off x="457200" y="219456"/>
            <a:ext cx="8229600" cy="420624"/>
          </a:xfrm>
          <a:prstGeom prst="rect">
            <a:avLst/>
          </a:prstGeom>
          <a:noFill/>
          <a:ln/>
        </p:spPr>
        <p:txBody>
          <a:bodyPr wrap="square" lIns="0" tIns="0" rIns="0" bIns="0" rtlCol="0" anchor="ctr"/>
          <a:lstStyle/>
          <a:p>
            <a:pPr marL="0" indent="0">
              <a:buNone/>
            </a:pPr>
            <a:r>
              <a:rPr lang="en-US" sz="2200" b="1" dirty="0">
                <a:solidFill>
                  <a:srgbClr val="212121"/>
                </a:solidFill>
                <a:latin typeface="Cambria" pitchFamily="34" charset="0"/>
                <a:ea typeface="Cambria" pitchFamily="34" charset="-122"/>
                <a:cs typeface="Cambria" pitchFamily="34" charset="-120"/>
              </a:rPr>
              <a:t>Timeline</a:t>
            </a:r>
            <a:endParaRPr lang="en-US" sz="2200" dirty="0"/>
          </a:p>
        </p:txBody>
      </p:sp>
      <p:sp>
        <p:nvSpPr>
          <p:cNvPr id="4" name="Text 2"/>
          <p:cNvSpPr/>
          <p:nvPr/>
        </p:nvSpPr>
        <p:spPr>
          <a:xfrm>
            <a:off x="457200" y="649224"/>
            <a:ext cx="8229600" cy="237744"/>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Five weeks, four people</a:t>
            </a:r>
            <a:endParaRPr lang="en-US" sz="1100" dirty="0"/>
          </a:p>
        </p:txBody>
      </p:sp>
      <p:pic>
        <p:nvPicPr>
          <p:cNvPr id="5" name="Image 0" descr="/sessions/wizardly-tender-albattani/mnt/outputs/figs/gantt.png"/>
          <p:cNvPicPr>
            <a:picLocks noChangeAspect="1"/>
          </p:cNvPicPr>
          <p:nvPr/>
        </p:nvPicPr>
        <p:blipFill>
          <a:blip r:embed="rId3"/>
          <a:stretch>
            <a:fillRect/>
          </a:stretch>
        </p:blipFill>
        <p:spPr>
          <a:xfrm>
            <a:off x="457200" y="1051560"/>
            <a:ext cx="8229600" cy="2770632"/>
          </a:xfrm>
          <a:prstGeom prst="rect">
            <a:avLst/>
          </a:prstGeom>
        </p:spPr>
      </p:pic>
      <p:sp>
        <p:nvSpPr>
          <p:cNvPr id="6" name="Shape 3"/>
          <p:cNvSpPr/>
          <p:nvPr/>
        </p:nvSpPr>
        <p:spPr>
          <a:xfrm>
            <a:off x="1600200" y="4078224"/>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7" name="Text 4"/>
          <p:cNvSpPr/>
          <p:nvPr/>
        </p:nvSpPr>
        <p:spPr>
          <a:xfrm>
            <a:off x="1728216" y="4123944"/>
            <a:ext cx="1664208" cy="310896"/>
          </a:xfrm>
          <a:prstGeom prst="rect">
            <a:avLst/>
          </a:prstGeom>
          <a:noFill/>
          <a:ln/>
        </p:spPr>
        <p:txBody>
          <a:bodyPr wrap="square" lIns="0" tIns="0" rIns="0" bIns="0" rtlCol="0" anchor="ctr"/>
          <a:lstStyle/>
          <a:p>
            <a:pPr marL="0" indent="0">
              <a:buNone/>
            </a:pPr>
            <a:r>
              <a:rPr lang="en-US" sz="1700" b="1" dirty="0">
                <a:solidFill>
                  <a:srgbClr val="2F4858"/>
                </a:solidFill>
                <a:latin typeface="Cambria" pitchFamily="34" charset="0"/>
                <a:ea typeface="Cambria" pitchFamily="34" charset="-122"/>
                <a:cs typeface="Cambria" pitchFamily="34" charset="-120"/>
              </a:rPr>
              <a:t>Week 1</a:t>
            </a:r>
            <a:endParaRPr lang="en-US" sz="1700" dirty="0"/>
          </a:p>
        </p:txBody>
      </p:sp>
      <p:sp>
        <p:nvSpPr>
          <p:cNvPr id="8" name="Text 5"/>
          <p:cNvSpPr/>
          <p:nvPr/>
        </p:nvSpPr>
        <p:spPr>
          <a:xfrm>
            <a:off x="172821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EDA and cleaning of all four datasets, in parallel</a:t>
            </a:r>
            <a:endParaRPr lang="en-US" sz="850" dirty="0"/>
          </a:p>
        </p:txBody>
      </p:sp>
      <p:sp>
        <p:nvSpPr>
          <p:cNvPr id="9" name="Shape 6"/>
          <p:cNvSpPr/>
          <p:nvPr/>
        </p:nvSpPr>
        <p:spPr>
          <a:xfrm>
            <a:off x="3703320" y="4078224"/>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10" name="Text 7"/>
          <p:cNvSpPr/>
          <p:nvPr/>
        </p:nvSpPr>
        <p:spPr>
          <a:xfrm>
            <a:off x="3831336" y="4123944"/>
            <a:ext cx="1664208" cy="310896"/>
          </a:xfrm>
          <a:prstGeom prst="rect">
            <a:avLst/>
          </a:prstGeom>
          <a:noFill/>
          <a:ln/>
        </p:spPr>
        <p:txBody>
          <a:bodyPr wrap="square" lIns="0" tIns="0" rIns="0" bIns="0" rtlCol="0" anchor="ctr"/>
          <a:lstStyle/>
          <a:p>
            <a:pPr marL="0" indent="0">
              <a:buNone/>
            </a:pPr>
            <a:r>
              <a:rPr lang="en-US" sz="1700" b="1" dirty="0">
                <a:solidFill>
                  <a:srgbClr val="B8860B"/>
                </a:solidFill>
                <a:latin typeface="Cambria" pitchFamily="34" charset="0"/>
                <a:ea typeface="Cambria" pitchFamily="34" charset="-122"/>
                <a:cs typeface="Cambria" pitchFamily="34" charset="-120"/>
              </a:rPr>
              <a:t>Weeks 2–4</a:t>
            </a:r>
            <a:endParaRPr lang="en-US" sz="1700" dirty="0"/>
          </a:p>
        </p:txBody>
      </p:sp>
      <p:sp>
        <p:nvSpPr>
          <p:cNvPr id="11" name="Text 8"/>
          <p:cNvSpPr/>
          <p:nvPr/>
        </p:nvSpPr>
        <p:spPr>
          <a:xfrm>
            <a:off x="383133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Part I and Part II analysis, notebooks and figures</a:t>
            </a:r>
            <a:endParaRPr lang="en-US" sz="850" dirty="0"/>
          </a:p>
        </p:txBody>
      </p:sp>
      <p:sp>
        <p:nvSpPr>
          <p:cNvPr id="12" name="Shape 9"/>
          <p:cNvSpPr/>
          <p:nvPr/>
        </p:nvSpPr>
        <p:spPr>
          <a:xfrm>
            <a:off x="5806440" y="4078224"/>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13" name="Text 10"/>
          <p:cNvSpPr/>
          <p:nvPr/>
        </p:nvSpPr>
        <p:spPr>
          <a:xfrm>
            <a:off x="5934456" y="4123944"/>
            <a:ext cx="1664208" cy="310896"/>
          </a:xfrm>
          <a:prstGeom prst="rect">
            <a:avLst/>
          </a:prstGeom>
          <a:noFill/>
          <a:ln/>
        </p:spPr>
        <p:txBody>
          <a:bodyPr wrap="square" lIns="0" tIns="0" rIns="0" bIns="0" rtlCol="0" anchor="ctr"/>
          <a:lstStyle/>
          <a:p>
            <a:pPr marL="0" indent="0">
              <a:buNone/>
            </a:pPr>
            <a:r>
              <a:rPr lang="en-US" sz="1700" b="1" dirty="0">
                <a:solidFill>
                  <a:srgbClr val="2F4858"/>
                </a:solidFill>
                <a:latin typeface="Cambria" pitchFamily="34" charset="0"/>
                <a:ea typeface="Cambria" pitchFamily="34" charset="-122"/>
                <a:cs typeface="Cambria" pitchFamily="34" charset="-120"/>
              </a:rPr>
              <a:t>Week 5</a:t>
            </a:r>
            <a:endParaRPr lang="en-US" sz="1700" dirty="0"/>
          </a:p>
        </p:txBody>
      </p:sp>
      <p:sp>
        <p:nvSpPr>
          <p:cNvPr id="14" name="Text 11"/>
          <p:cNvSpPr/>
          <p:nvPr/>
        </p:nvSpPr>
        <p:spPr>
          <a:xfrm>
            <a:off x="593445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Report, workbook and presentation, whole team</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549640" y="4773168"/>
            <a:ext cx="365760" cy="228600"/>
          </a:xfrm>
          <a:prstGeom prst="rect">
            <a:avLst/>
          </a:prstGeom>
          <a:noFill/>
          <a:ln/>
        </p:spPr>
        <p:txBody>
          <a:bodyPr wrap="square" rtlCol="0" anchor="ctr"/>
          <a:lstStyle/>
          <a:p>
            <a:pPr marL="0" indent="0" algn="r">
              <a:buNone/>
            </a:pPr>
            <a:r>
              <a:rPr lang="en-US" sz="900" dirty="0">
                <a:solidFill>
                  <a:srgbClr val="8C8C8C"/>
                </a:solidFill>
                <a:latin typeface="Calibri" pitchFamily="34" charset="0"/>
                <a:ea typeface="Calibri" pitchFamily="34" charset="-122"/>
                <a:cs typeface="Calibri" pitchFamily="34" charset="-120"/>
              </a:rPr>
              <a:t>4</a:t>
            </a:r>
            <a:endParaRPr lang="en-US" sz="900" dirty="0"/>
          </a:p>
        </p:txBody>
      </p:sp>
      <p:sp>
        <p:nvSpPr>
          <p:cNvPr id="3" name="Text 1"/>
          <p:cNvSpPr/>
          <p:nvPr/>
        </p:nvSpPr>
        <p:spPr>
          <a:xfrm>
            <a:off x="457200" y="219456"/>
            <a:ext cx="8229600" cy="420624"/>
          </a:xfrm>
          <a:prstGeom prst="rect">
            <a:avLst/>
          </a:prstGeom>
          <a:noFill/>
          <a:ln/>
        </p:spPr>
        <p:txBody>
          <a:bodyPr wrap="square" lIns="0" tIns="0" rIns="0" bIns="0" rtlCol="0" anchor="ctr"/>
          <a:lstStyle/>
          <a:p>
            <a:pPr marL="0" indent="0">
              <a:buNone/>
            </a:pPr>
            <a:r>
              <a:rPr lang="en-US" sz="2200" b="1" dirty="0">
                <a:solidFill>
                  <a:srgbClr val="212121"/>
                </a:solidFill>
                <a:latin typeface="Cambria" pitchFamily="34" charset="0"/>
                <a:ea typeface="Cambria" pitchFamily="34" charset="-122"/>
                <a:cs typeface="Cambria" pitchFamily="34" charset="-120"/>
              </a:rPr>
              <a:t>Oil</a:t>
            </a:r>
            <a:endParaRPr lang="en-US" sz="2200" dirty="0"/>
          </a:p>
        </p:txBody>
      </p:sp>
      <p:sp>
        <p:nvSpPr>
          <p:cNvPr id="4" name="Text 2"/>
          <p:cNvSpPr/>
          <p:nvPr/>
        </p:nvSpPr>
        <p:spPr>
          <a:xfrm>
            <a:off x="457200" y="649224"/>
            <a:ext cx="8229600" cy="237744"/>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Monthly Brent, Jan 1946 – Mar 2026, log scale. Dashed lines are global events.</a:t>
            </a:r>
            <a:endParaRPr lang="en-US" sz="1100" dirty="0"/>
          </a:p>
        </p:txBody>
      </p:sp>
      <p:pic>
        <p:nvPicPr>
          <p:cNvPr id="5" name="Image 0" descr="/sessions/wizardly-tender-albattani/mnt/outputs/figs/oil.png"/>
          <p:cNvPicPr>
            <a:picLocks noChangeAspect="1"/>
          </p:cNvPicPr>
          <p:nvPr/>
        </p:nvPicPr>
        <p:blipFill>
          <a:blip r:embed="rId3"/>
          <a:stretch>
            <a:fillRect/>
          </a:stretch>
        </p:blipFill>
        <p:spPr>
          <a:xfrm>
            <a:off x="457200" y="969264"/>
            <a:ext cx="8229600" cy="3044952"/>
          </a:xfrm>
          <a:prstGeom prst="rect">
            <a:avLst/>
          </a:prstGeom>
        </p:spPr>
      </p:pic>
      <p:sp>
        <p:nvSpPr>
          <p:cNvPr id="6" name="Shape 3"/>
          <p:cNvSpPr/>
          <p:nvPr/>
        </p:nvSpPr>
        <p:spPr>
          <a:xfrm>
            <a:off x="457200" y="4078224"/>
            <a:ext cx="1920240" cy="694944"/>
          </a:xfrm>
          <a:prstGeom prst="roundRect">
            <a:avLst>
              <a:gd name="adj" fmla="val 6579"/>
            </a:avLst>
          </a:prstGeom>
          <a:solidFill>
            <a:srgbClr val="F6F5F2"/>
          </a:solidFill>
          <a:ln w="12700">
            <a:solidFill>
              <a:srgbClr val="FFFFFF"/>
            </a:solidFill>
            <a:prstDash val="solid"/>
          </a:ln>
        </p:spPr>
      </p:sp>
      <p:sp>
        <p:nvSpPr>
          <p:cNvPr id="7" name="Text 4"/>
          <p:cNvSpPr/>
          <p:nvPr/>
        </p:nvSpPr>
        <p:spPr>
          <a:xfrm>
            <a:off x="585216" y="4123944"/>
            <a:ext cx="1664208" cy="310896"/>
          </a:xfrm>
          <a:prstGeom prst="rect">
            <a:avLst/>
          </a:prstGeom>
          <a:noFill/>
          <a:ln/>
        </p:spPr>
        <p:txBody>
          <a:bodyPr wrap="square" lIns="0" tIns="0" rIns="0" bIns="0" rtlCol="0" anchor="ctr"/>
          <a:lstStyle/>
          <a:p>
            <a:pPr marL="0" indent="0">
              <a:buNone/>
            </a:pPr>
            <a:r>
              <a:rPr lang="en-US" sz="1700" b="1" dirty="0">
                <a:solidFill>
                  <a:srgbClr val="2F4858"/>
                </a:solidFill>
                <a:latin typeface="Cambria" pitchFamily="34" charset="0"/>
                <a:ea typeface="Cambria" pitchFamily="34" charset="-122"/>
                <a:cs typeface="Cambria" pitchFamily="34" charset="-120"/>
              </a:rPr>
              <a:t>$211.21</a:t>
            </a:r>
            <a:endParaRPr lang="en-US" sz="1700" dirty="0"/>
          </a:p>
        </p:txBody>
      </p:sp>
      <p:sp>
        <p:nvSpPr>
          <p:cNvPr id="8" name="Text 5"/>
          <p:cNvSpPr/>
          <p:nvPr/>
        </p:nvSpPr>
        <p:spPr>
          <a:xfrm>
            <a:off x="58521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highest monthly reading (Jun 2008), inflation-adjusted</a:t>
            </a:r>
            <a:endParaRPr lang="en-US" sz="850" dirty="0"/>
          </a:p>
        </p:txBody>
      </p:sp>
      <p:sp>
        <p:nvSpPr>
          <p:cNvPr id="9" name="Shape 6"/>
          <p:cNvSpPr/>
          <p:nvPr/>
        </p:nvSpPr>
        <p:spPr>
          <a:xfrm>
            <a:off x="2560320" y="4078224"/>
            <a:ext cx="1920240" cy="694944"/>
          </a:xfrm>
          <a:prstGeom prst="roundRect">
            <a:avLst>
              <a:gd name="adj" fmla="val 6579"/>
            </a:avLst>
          </a:prstGeom>
          <a:solidFill>
            <a:srgbClr val="F6F5F2"/>
          </a:solidFill>
          <a:ln w="12700">
            <a:solidFill>
              <a:srgbClr val="FFFFFF"/>
            </a:solidFill>
            <a:prstDash val="solid"/>
          </a:ln>
        </p:spPr>
      </p:sp>
      <p:sp>
        <p:nvSpPr>
          <p:cNvPr id="10" name="Text 7"/>
          <p:cNvSpPr/>
          <p:nvPr/>
        </p:nvSpPr>
        <p:spPr>
          <a:xfrm>
            <a:off x="2688336" y="4123944"/>
            <a:ext cx="1664208" cy="310896"/>
          </a:xfrm>
          <a:prstGeom prst="rect">
            <a:avLst/>
          </a:prstGeom>
          <a:noFill/>
          <a:ln/>
        </p:spPr>
        <p:txBody>
          <a:bodyPr wrap="square" lIns="0" tIns="0" rIns="0" bIns="0" rtlCol="0" anchor="ctr"/>
          <a:lstStyle/>
          <a:p>
            <a:pPr marL="0" indent="0">
              <a:buNone/>
            </a:pPr>
            <a:r>
              <a:rPr lang="en-US" sz="1700" b="1" dirty="0">
                <a:solidFill>
                  <a:srgbClr val="2F4858"/>
                </a:solidFill>
                <a:latin typeface="Cambria" pitchFamily="34" charset="0"/>
                <a:ea typeface="Cambria" pitchFamily="34" charset="-122"/>
                <a:cs typeface="Cambria" pitchFamily="34" charset="-120"/>
              </a:rPr>
              <a:t>$21.11</a:t>
            </a:r>
            <a:endParaRPr lang="en-US" sz="1700" dirty="0"/>
          </a:p>
        </p:txBody>
      </p:sp>
      <p:sp>
        <p:nvSpPr>
          <p:cNvPr id="11" name="Text 8"/>
          <p:cNvSpPr/>
          <p:nvPr/>
        </p:nvSpPr>
        <p:spPr>
          <a:xfrm>
            <a:off x="268833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lowest monthly reading (Mar 1946)</a:t>
            </a:r>
            <a:endParaRPr lang="en-US" sz="850" dirty="0"/>
          </a:p>
        </p:txBody>
      </p:sp>
      <p:sp>
        <p:nvSpPr>
          <p:cNvPr id="12" name="Shape 9"/>
          <p:cNvSpPr/>
          <p:nvPr/>
        </p:nvSpPr>
        <p:spPr>
          <a:xfrm>
            <a:off x="4663440" y="4078224"/>
            <a:ext cx="1920240" cy="694944"/>
          </a:xfrm>
          <a:prstGeom prst="roundRect">
            <a:avLst>
              <a:gd name="adj" fmla="val 6579"/>
            </a:avLst>
          </a:prstGeom>
          <a:solidFill>
            <a:srgbClr val="F6F5F2"/>
          </a:solidFill>
          <a:ln w="12700">
            <a:solidFill>
              <a:srgbClr val="FFFFFF"/>
            </a:solidFill>
            <a:prstDash val="solid"/>
          </a:ln>
        </p:spPr>
      </p:sp>
      <p:sp>
        <p:nvSpPr>
          <p:cNvPr id="13" name="Text 10"/>
          <p:cNvSpPr/>
          <p:nvPr/>
        </p:nvSpPr>
        <p:spPr>
          <a:xfrm>
            <a:off x="4791456" y="4123944"/>
            <a:ext cx="1664208" cy="310896"/>
          </a:xfrm>
          <a:prstGeom prst="rect">
            <a:avLst/>
          </a:prstGeom>
          <a:noFill/>
          <a:ln/>
        </p:spPr>
        <p:txBody>
          <a:bodyPr wrap="square" lIns="0" tIns="0" rIns="0" bIns="0" rtlCol="0" anchor="ctr"/>
          <a:lstStyle/>
          <a:p>
            <a:pPr marL="0" indent="0">
              <a:buNone/>
            </a:pPr>
            <a:r>
              <a:rPr lang="en-US" sz="1700" b="1" dirty="0">
                <a:solidFill>
                  <a:srgbClr val="B85042"/>
                </a:solidFill>
                <a:latin typeface="Cambria" pitchFamily="34" charset="0"/>
                <a:ea typeface="Cambria" pitchFamily="34" charset="-122"/>
                <a:cs typeface="Cambria" pitchFamily="34" charset="-120"/>
              </a:rPr>
              <a:t>+52.0%</a:t>
            </a:r>
            <a:endParaRPr lang="en-US" sz="1700" dirty="0"/>
          </a:p>
        </p:txBody>
      </p:sp>
      <p:sp>
        <p:nvSpPr>
          <p:cNvPr id="14" name="Text 11"/>
          <p:cNvSpPr/>
          <p:nvPr/>
        </p:nvSpPr>
        <p:spPr>
          <a:xfrm>
            <a:off x="479145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largest one-month rise (Mar 2026)</a:t>
            </a:r>
            <a:endParaRPr lang="en-US" sz="850" dirty="0"/>
          </a:p>
        </p:txBody>
      </p:sp>
      <p:sp>
        <p:nvSpPr>
          <p:cNvPr id="15" name="Shape 12"/>
          <p:cNvSpPr/>
          <p:nvPr/>
        </p:nvSpPr>
        <p:spPr>
          <a:xfrm>
            <a:off x="6766560" y="4078224"/>
            <a:ext cx="1920240" cy="694944"/>
          </a:xfrm>
          <a:prstGeom prst="roundRect">
            <a:avLst>
              <a:gd name="adj" fmla="val 6579"/>
            </a:avLst>
          </a:prstGeom>
          <a:solidFill>
            <a:srgbClr val="F6F5F2"/>
          </a:solidFill>
          <a:ln w="12700">
            <a:solidFill>
              <a:srgbClr val="FFFFFF"/>
            </a:solidFill>
            <a:prstDash val="solid"/>
          </a:ln>
        </p:spPr>
      </p:sp>
      <p:sp>
        <p:nvSpPr>
          <p:cNvPr id="16" name="Text 13"/>
          <p:cNvSpPr/>
          <p:nvPr/>
        </p:nvSpPr>
        <p:spPr>
          <a:xfrm>
            <a:off x="6894576" y="4123944"/>
            <a:ext cx="1664208" cy="310896"/>
          </a:xfrm>
          <a:prstGeom prst="rect">
            <a:avLst/>
          </a:prstGeom>
          <a:noFill/>
          <a:ln/>
        </p:spPr>
        <p:txBody>
          <a:bodyPr wrap="square" lIns="0" tIns="0" rIns="0" bIns="0" rtlCol="0" anchor="ctr"/>
          <a:lstStyle/>
          <a:p>
            <a:pPr marL="0" indent="0">
              <a:buNone/>
            </a:pPr>
            <a:r>
              <a:rPr lang="en-US" sz="1700" b="1" dirty="0">
                <a:solidFill>
                  <a:srgbClr val="B85042"/>
                </a:solidFill>
                <a:latin typeface="Cambria" pitchFamily="34" charset="0"/>
                <a:ea typeface="Cambria" pitchFamily="34" charset="-122"/>
                <a:cs typeface="Cambria" pitchFamily="34" charset="-120"/>
              </a:rPr>
              <a:t>38%</a:t>
            </a:r>
            <a:endParaRPr lang="en-US" sz="1700" dirty="0"/>
          </a:p>
        </p:txBody>
      </p:sp>
      <p:sp>
        <p:nvSpPr>
          <p:cNvPr id="17" name="Text 14"/>
          <p:cNvSpPr/>
          <p:nvPr/>
        </p:nvSpPr>
        <p:spPr>
          <a:xfrm>
            <a:off x="689457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annualised volatility since 2000</a:t>
            </a:r>
            <a:endParaRPr lang="en-US" sz="850" dirty="0"/>
          </a:p>
        </p:txBody>
      </p:sp>
    </p:spTree>
    <p:extLst>
      <p:ext uri="{BB962C8B-B14F-4D97-AF65-F5344CB8AC3E}">
        <p14:creationId xmlns:p14="http://schemas.microsoft.com/office/powerpoint/2010/main" val="17717984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549640" y="4773168"/>
            <a:ext cx="365760" cy="228600"/>
          </a:xfrm>
          <a:prstGeom prst="rect">
            <a:avLst/>
          </a:prstGeom>
          <a:noFill/>
          <a:ln/>
        </p:spPr>
        <p:txBody>
          <a:bodyPr wrap="square" rtlCol="0" anchor="ctr"/>
          <a:lstStyle/>
          <a:p>
            <a:pPr marL="0" indent="0" algn="r">
              <a:buNone/>
            </a:pPr>
            <a:r>
              <a:rPr lang="en-US" sz="900" dirty="0">
                <a:solidFill>
                  <a:srgbClr val="8C8C8C"/>
                </a:solidFill>
                <a:latin typeface="Calibri" pitchFamily="34" charset="0"/>
                <a:ea typeface="Calibri" pitchFamily="34" charset="-122"/>
                <a:cs typeface="Calibri" pitchFamily="34" charset="-120"/>
              </a:rPr>
              <a:t>5</a:t>
            </a:r>
            <a:endParaRPr lang="en-US" sz="900" dirty="0"/>
          </a:p>
        </p:txBody>
      </p:sp>
      <p:sp>
        <p:nvSpPr>
          <p:cNvPr id="3" name="Text 1"/>
          <p:cNvSpPr/>
          <p:nvPr/>
        </p:nvSpPr>
        <p:spPr>
          <a:xfrm>
            <a:off x="457200" y="219456"/>
            <a:ext cx="8229600" cy="420624"/>
          </a:xfrm>
          <a:prstGeom prst="rect">
            <a:avLst/>
          </a:prstGeom>
          <a:noFill/>
          <a:ln/>
        </p:spPr>
        <p:txBody>
          <a:bodyPr wrap="square" lIns="0" tIns="0" rIns="0" bIns="0" rtlCol="0" anchor="ctr"/>
          <a:lstStyle/>
          <a:p>
            <a:pPr marL="0" indent="0">
              <a:buNone/>
            </a:pPr>
            <a:r>
              <a:rPr lang="en-US" sz="2200" b="1" dirty="0">
                <a:solidFill>
                  <a:srgbClr val="212121"/>
                </a:solidFill>
                <a:latin typeface="Cambria" pitchFamily="34" charset="0"/>
                <a:ea typeface="Cambria" pitchFamily="34" charset="-122"/>
                <a:cs typeface="Cambria" pitchFamily="34" charset="-120"/>
              </a:rPr>
              <a:t>Gold</a:t>
            </a:r>
            <a:endParaRPr lang="en-US" sz="2200" dirty="0"/>
          </a:p>
        </p:txBody>
      </p:sp>
      <p:sp>
        <p:nvSpPr>
          <p:cNvPr id="4" name="Text 2"/>
          <p:cNvSpPr/>
          <p:nvPr/>
        </p:nvSpPr>
        <p:spPr>
          <a:xfrm>
            <a:off x="457200" y="649224"/>
            <a:ext cx="8229600" cy="237744"/>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Monthly gold, Jan 1915 – Apr 2026, log scale. The flat shelves are fixed-price regimes.</a:t>
            </a:r>
            <a:endParaRPr lang="en-US" sz="1100" dirty="0"/>
          </a:p>
        </p:txBody>
      </p:sp>
      <p:pic>
        <p:nvPicPr>
          <p:cNvPr id="5" name="Image 0" descr="/sessions/wizardly-tender-albattani/mnt/outputs/figs/gold.png"/>
          <p:cNvPicPr>
            <a:picLocks noChangeAspect="1"/>
          </p:cNvPicPr>
          <p:nvPr/>
        </p:nvPicPr>
        <p:blipFill>
          <a:blip r:embed="rId3"/>
          <a:stretch>
            <a:fillRect/>
          </a:stretch>
        </p:blipFill>
        <p:spPr>
          <a:xfrm>
            <a:off x="457200" y="969264"/>
            <a:ext cx="8229600" cy="3044952"/>
          </a:xfrm>
          <a:prstGeom prst="rect">
            <a:avLst/>
          </a:prstGeom>
        </p:spPr>
      </p:pic>
      <p:sp>
        <p:nvSpPr>
          <p:cNvPr id="6" name="Shape 3"/>
          <p:cNvSpPr/>
          <p:nvPr/>
        </p:nvSpPr>
        <p:spPr>
          <a:xfrm>
            <a:off x="457200" y="4078224"/>
            <a:ext cx="1920240" cy="694944"/>
          </a:xfrm>
          <a:prstGeom prst="roundRect">
            <a:avLst>
              <a:gd name="adj" fmla="val 6579"/>
            </a:avLst>
          </a:prstGeom>
          <a:solidFill>
            <a:srgbClr val="F6F5F2"/>
          </a:solidFill>
          <a:ln w="12700">
            <a:solidFill>
              <a:srgbClr val="FFFFFF"/>
            </a:solidFill>
            <a:prstDash val="solid"/>
          </a:ln>
        </p:spPr>
      </p:sp>
      <p:sp>
        <p:nvSpPr>
          <p:cNvPr id="7" name="Text 4"/>
          <p:cNvSpPr/>
          <p:nvPr/>
        </p:nvSpPr>
        <p:spPr>
          <a:xfrm>
            <a:off x="585216" y="4123944"/>
            <a:ext cx="1664208" cy="310896"/>
          </a:xfrm>
          <a:prstGeom prst="rect">
            <a:avLst/>
          </a:prstGeom>
          <a:noFill/>
          <a:ln/>
        </p:spPr>
        <p:txBody>
          <a:bodyPr wrap="square" lIns="0" tIns="0" rIns="0" bIns="0" rtlCol="0" anchor="ctr"/>
          <a:lstStyle/>
          <a:p>
            <a:pPr marL="0" indent="0">
              <a:buNone/>
            </a:pPr>
            <a:r>
              <a:rPr lang="en-US" sz="1700" b="1" dirty="0">
                <a:solidFill>
                  <a:srgbClr val="B8860B"/>
                </a:solidFill>
                <a:latin typeface="Cambria" pitchFamily="34" charset="0"/>
                <a:ea typeface="Cambria" pitchFamily="34" charset="-122"/>
                <a:cs typeface="Cambria" pitchFamily="34" charset="-120"/>
              </a:rPr>
              <a:t>$5,277.89</a:t>
            </a:r>
            <a:endParaRPr lang="en-US" sz="1700" dirty="0"/>
          </a:p>
        </p:txBody>
      </p:sp>
      <p:sp>
        <p:nvSpPr>
          <p:cNvPr id="8" name="Text 5"/>
          <p:cNvSpPr/>
          <p:nvPr/>
        </p:nvSpPr>
        <p:spPr>
          <a:xfrm>
            <a:off x="58521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highest monthly reading (Feb 2026), nominal</a:t>
            </a:r>
            <a:endParaRPr lang="en-US" sz="850" dirty="0"/>
          </a:p>
        </p:txBody>
      </p:sp>
      <p:sp>
        <p:nvSpPr>
          <p:cNvPr id="9" name="Shape 6"/>
          <p:cNvSpPr/>
          <p:nvPr/>
        </p:nvSpPr>
        <p:spPr>
          <a:xfrm>
            <a:off x="2560320" y="4078224"/>
            <a:ext cx="1920240" cy="694944"/>
          </a:xfrm>
          <a:prstGeom prst="roundRect">
            <a:avLst>
              <a:gd name="adj" fmla="val 6579"/>
            </a:avLst>
          </a:prstGeom>
          <a:solidFill>
            <a:srgbClr val="F6F5F2"/>
          </a:solidFill>
          <a:ln w="12700">
            <a:solidFill>
              <a:srgbClr val="FFFFFF"/>
            </a:solidFill>
            <a:prstDash val="solid"/>
          </a:ln>
        </p:spPr>
      </p:sp>
      <p:sp>
        <p:nvSpPr>
          <p:cNvPr id="10" name="Text 7"/>
          <p:cNvSpPr/>
          <p:nvPr/>
        </p:nvSpPr>
        <p:spPr>
          <a:xfrm>
            <a:off x="2688336" y="4123944"/>
            <a:ext cx="1664208" cy="310896"/>
          </a:xfrm>
          <a:prstGeom prst="rect">
            <a:avLst/>
          </a:prstGeom>
          <a:noFill/>
          <a:ln/>
        </p:spPr>
        <p:txBody>
          <a:bodyPr wrap="square" lIns="0" tIns="0" rIns="0" bIns="0" rtlCol="0" anchor="ctr"/>
          <a:lstStyle/>
          <a:p>
            <a:pPr marL="0" indent="0">
              <a:buNone/>
            </a:pPr>
            <a:r>
              <a:rPr lang="en-US" sz="1700" b="1" dirty="0">
                <a:solidFill>
                  <a:srgbClr val="B8860B"/>
                </a:solidFill>
                <a:latin typeface="Cambria" pitchFamily="34" charset="0"/>
                <a:ea typeface="Cambria" pitchFamily="34" charset="-122"/>
                <a:cs typeface="Cambria" pitchFamily="34" charset="-120"/>
              </a:rPr>
              <a:t>$19.25</a:t>
            </a:r>
            <a:endParaRPr lang="en-US" sz="1700" dirty="0"/>
          </a:p>
        </p:txBody>
      </p:sp>
      <p:sp>
        <p:nvSpPr>
          <p:cNvPr id="11" name="Text 8"/>
          <p:cNvSpPr/>
          <p:nvPr/>
        </p:nvSpPr>
        <p:spPr>
          <a:xfrm>
            <a:off x="268833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lowest monthly reading (Jan 1915)</a:t>
            </a:r>
            <a:endParaRPr lang="en-US" sz="850" dirty="0"/>
          </a:p>
        </p:txBody>
      </p:sp>
      <p:sp>
        <p:nvSpPr>
          <p:cNvPr id="12" name="Shape 9"/>
          <p:cNvSpPr/>
          <p:nvPr/>
        </p:nvSpPr>
        <p:spPr>
          <a:xfrm>
            <a:off x="4663440" y="4078224"/>
            <a:ext cx="1920240" cy="694944"/>
          </a:xfrm>
          <a:prstGeom prst="roundRect">
            <a:avLst>
              <a:gd name="adj" fmla="val 6579"/>
            </a:avLst>
          </a:prstGeom>
          <a:solidFill>
            <a:srgbClr val="F6F5F2"/>
          </a:solidFill>
          <a:ln w="12700">
            <a:solidFill>
              <a:srgbClr val="FFFFFF"/>
            </a:solidFill>
            <a:prstDash val="solid"/>
          </a:ln>
        </p:spPr>
      </p:sp>
      <p:sp>
        <p:nvSpPr>
          <p:cNvPr id="13" name="Text 10"/>
          <p:cNvSpPr/>
          <p:nvPr/>
        </p:nvSpPr>
        <p:spPr>
          <a:xfrm>
            <a:off x="4791456" y="4123944"/>
            <a:ext cx="1664208" cy="310896"/>
          </a:xfrm>
          <a:prstGeom prst="rect">
            <a:avLst/>
          </a:prstGeom>
          <a:noFill/>
          <a:ln/>
        </p:spPr>
        <p:txBody>
          <a:bodyPr wrap="square" lIns="0" tIns="0" rIns="0" bIns="0" rtlCol="0" anchor="ctr"/>
          <a:lstStyle/>
          <a:p>
            <a:pPr marL="0" indent="0">
              <a:buNone/>
            </a:pPr>
            <a:r>
              <a:rPr lang="en-US" sz="1700" b="1" dirty="0">
                <a:solidFill>
                  <a:srgbClr val="B8860B"/>
                </a:solidFill>
                <a:latin typeface="Cambria" pitchFamily="34" charset="0"/>
                <a:ea typeface="Cambria" pitchFamily="34" charset="-122"/>
                <a:cs typeface="Cambria" pitchFamily="34" charset="-120"/>
              </a:rPr>
              <a:t>16%</a:t>
            </a:r>
            <a:endParaRPr lang="en-US" sz="1700" dirty="0"/>
          </a:p>
        </p:txBody>
      </p:sp>
      <p:sp>
        <p:nvSpPr>
          <p:cNvPr id="14" name="Text 11"/>
          <p:cNvSpPr/>
          <p:nvPr/>
        </p:nvSpPr>
        <p:spPr>
          <a:xfrm>
            <a:off x="479145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annualised volatility — half of oil</a:t>
            </a:r>
            <a:endParaRPr lang="en-US" sz="850" dirty="0"/>
          </a:p>
        </p:txBody>
      </p:sp>
      <p:sp>
        <p:nvSpPr>
          <p:cNvPr id="15" name="Shape 12"/>
          <p:cNvSpPr/>
          <p:nvPr/>
        </p:nvSpPr>
        <p:spPr>
          <a:xfrm>
            <a:off x="6766560" y="4078224"/>
            <a:ext cx="1920240" cy="694944"/>
          </a:xfrm>
          <a:prstGeom prst="roundRect">
            <a:avLst>
              <a:gd name="adj" fmla="val 6579"/>
            </a:avLst>
          </a:prstGeom>
          <a:solidFill>
            <a:srgbClr val="F6F5F2"/>
          </a:solidFill>
          <a:ln w="12700">
            <a:solidFill>
              <a:srgbClr val="FFFFFF"/>
            </a:solidFill>
            <a:prstDash val="solid"/>
          </a:ln>
        </p:spPr>
      </p:sp>
      <p:sp>
        <p:nvSpPr>
          <p:cNvPr id="16" name="Text 13"/>
          <p:cNvSpPr/>
          <p:nvPr/>
        </p:nvSpPr>
        <p:spPr>
          <a:xfrm>
            <a:off x="6894576" y="4123944"/>
            <a:ext cx="1664208" cy="310896"/>
          </a:xfrm>
          <a:prstGeom prst="rect">
            <a:avLst/>
          </a:prstGeom>
          <a:noFill/>
          <a:ln/>
        </p:spPr>
        <p:txBody>
          <a:bodyPr wrap="square" lIns="0" tIns="0" rIns="0" bIns="0" rtlCol="0" anchor="ctr"/>
          <a:lstStyle/>
          <a:p>
            <a:pPr marL="0" indent="0">
              <a:buNone/>
            </a:pPr>
            <a:r>
              <a:rPr lang="en-US" sz="1700" b="1" dirty="0">
                <a:solidFill>
                  <a:srgbClr val="B85042"/>
                </a:solidFill>
                <a:latin typeface="Cambria" pitchFamily="34" charset="0"/>
                <a:ea typeface="Cambria" pitchFamily="34" charset="-122"/>
                <a:cs typeface="Cambria" pitchFamily="34" charset="-120"/>
              </a:rPr>
              <a:t>+44% / +41%</a:t>
            </a:r>
            <a:endParaRPr lang="en-US" sz="1700" dirty="0"/>
          </a:p>
        </p:txBody>
      </p:sp>
      <p:sp>
        <p:nvSpPr>
          <p:cNvPr id="17" name="Text 14"/>
          <p:cNvSpPr/>
          <p:nvPr/>
        </p:nvSpPr>
        <p:spPr>
          <a:xfrm>
            <a:off x="689457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annual average, 2025 and 2026 YTD</a:t>
            </a:r>
            <a:endParaRPr lang="en-US" sz="850" dirty="0"/>
          </a:p>
        </p:txBody>
      </p:sp>
    </p:spTree>
    <p:extLst>
      <p:ext uri="{BB962C8B-B14F-4D97-AF65-F5344CB8AC3E}">
        <p14:creationId xmlns:p14="http://schemas.microsoft.com/office/powerpoint/2010/main" val="24034448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549640" y="4773168"/>
            <a:ext cx="365760" cy="228600"/>
          </a:xfrm>
          <a:prstGeom prst="rect">
            <a:avLst/>
          </a:prstGeom>
          <a:noFill/>
          <a:ln/>
        </p:spPr>
        <p:txBody>
          <a:bodyPr wrap="square" rtlCol="0" anchor="ctr"/>
          <a:lstStyle/>
          <a:p>
            <a:pPr marL="0" indent="0" algn="r">
              <a:buNone/>
            </a:pPr>
            <a:r>
              <a:rPr lang="en-US" sz="900" dirty="0">
                <a:solidFill>
                  <a:srgbClr val="8C8C8C"/>
                </a:solidFill>
                <a:latin typeface="Calibri" pitchFamily="34" charset="0"/>
                <a:ea typeface="Calibri" pitchFamily="34" charset="-122"/>
                <a:cs typeface="Calibri" pitchFamily="34" charset="-120"/>
              </a:rPr>
              <a:t>6</a:t>
            </a:r>
            <a:endParaRPr lang="en-US" sz="900" dirty="0"/>
          </a:p>
        </p:txBody>
      </p:sp>
      <p:sp>
        <p:nvSpPr>
          <p:cNvPr id="3" name="Text 1"/>
          <p:cNvSpPr/>
          <p:nvPr/>
        </p:nvSpPr>
        <p:spPr>
          <a:xfrm>
            <a:off x="457200" y="219456"/>
            <a:ext cx="8229600" cy="420624"/>
          </a:xfrm>
          <a:prstGeom prst="rect">
            <a:avLst/>
          </a:prstGeom>
          <a:noFill/>
          <a:ln/>
        </p:spPr>
        <p:txBody>
          <a:bodyPr wrap="square" lIns="0" tIns="0" rIns="0" bIns="0" rtlCol="0" anchor="ctr"/>
          <a:lstStyle/>
          <a:p>
            <a:pPr marL="0" indent="0">
              <a:buNone/>
            </a:pPr>
            <a:r>
              <a:rPr lang="en-US" sz="2200" b="1" dirty="0">
                <a:solidFill>
                  <a:srgbClr val="212121"/>
                </a:solidFill>
                <a:latin typeface="Cambria" pitchFamily="34" charset="0"/>
                <a:ea typeface="Cambria" pitchFamily="34" charset="-122"/>
                <a:cs typeface="Cambria" pitchFamily="34" charset="-120"/>
              </a:rPr>
              <a:t>Silver</a:t>
            </a:r>
            <a:endParaRPr lang="en-US" sz="2200" dirty="0"/>
          </a:p>
        </p:txBody>
      </p:sp>
      <p:sp>
        <p:nvSpPr>
          <p:cNvPr id="4" name="Text 2"/>
          <p:cNvSpPr/>
          <p:nvPr/>
        </p:nvSpPr>
        <p:spPr>
          <a:xfrm>
            <a:off x="457200" y="649224"/>
            <a:ext cx="8229600" cy="237744"/>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Monthly silver, Jan 1915 – Apr 2026, log scale. Part monetary metal, part industrial input.</a:t>
            </a:r>
            <a:endParaRPr lang="en-US" sz="1100" dirty="0"/>
          </a:p>
        </p:txBody>
      </p:sp>
      <p:pic>
        <p:nvPicPr>
          <p:cNvPr id="5" name="Image 0" descr="/sessions/wizardly-tender-albattani/mnt/outputs/figs/silver.png"/>
          <p:cNvPicPr>
            <a:picLocks noChangeAspect="1"/>
          </p:cNvPicPr>
          <p:nvPr/>
        </p:nvPicPr>
        <p:blipFill>
          <a:blip r:embed="rId3"/>
          <a:stretch>
            <a:fillRect/>
          </a:stretch>
        </p:blipFill>
        <p:spPr>
          <a:xfrm>
            <a:off x="457200" y="969264"/>
            <a:ext cx="8229600" cy="3044952"/>
          </a:xfrm>
          <a:prstGeom prst="rect">
            <a:avLst/>
          </a:prstGeom>
        </p:spPr>
      </p:pic>
      <p:sp>
        <p:nvSpPr>
          <p:cNvPr id="6" name="Shape 3"/>
          <p:cNvSpPr/>
          <p:nvPr/>
        </p:nvSpPr>
        <p:spPr>
          <a:xfrm>
            <a:off x="457200" y="4078224"/>
            <a:ext cx="1920240" cy="694944"/>
          </a:xfrm>
          <a:prstGeom prst="roundRect">
            <a:avLst>
              <a:gd name="adj" fmla="val 6579"/>
            </a:avLst>
          </a:prstGeom>
          <a:solidFill>
            <a:srgbClr val="F6F5F2"/>
          </a:solidFill>
          <a:ln w="12700">
            <a:solidFill>
              <a:srgbClr val="FFFFFF"/>
            </a:solidFill>
            <a:prstDash val="solid"/>
          </a:ln>
        </p:spPr>
      </p:sp>
      <p:sp>
        <p:nvSpPr>
          <p:cNvPr id="7" name="Text 4"/>
          <p:cNvSpPr/>
          <p:nvPr/>
        </p:nvSpPr>
        <p:spPr>
          <a:xfrm>
            <a:off x="585216" y="4123944"/>
            <a:ext cx="1664208" cy="310896"/>
          </a:xfrm>
          <a:prstGeom prst="rect">
            <a:avLst/>
          </a:prstGeom>
          <a:noFill/>
          <a:ln/>
        </p:spPr>
        <p:txBody>
          <a:bodyPr wrap="square" lIns="0" tIns="0" rIns="0" bIns="0" rtlCol="0" anchor="ctr"/>
          <a:lstStyle/>
          <a:p>
            <a:pPr marL="0" indent="0">
              <a:buNone/>
            </a:pPr>
            <a:r>
              <a:rPr lang="en-US" sz="1700" b="1" dirty="0">
                <a:solidFill>
                  <a:srgbClr val="8A9BA8"/>
                </a:solidFill>
                <a:latin typeface="Cambria" pitchFamily="34" charset="0"/>
                <a:ea typeface="Cambria" pitchFamily="34" charset="-122"/>
                <a:cs typeface="Cambria" pitchFamily="34" charset="-120"/>
              </a:rPr>
              <a:t>$113.95</a:t>
            </a:r>
            <a:endParaRPr lang="en-US" sz="1700" dirty="0"/>
          </a:p>
        </p:txBody>
      </p:sp>
      <p:sp>
        <p:nvSpPr>
          <p:cNvPr id="8" name="Text 5"/>
          <p:cNvSpPr/>
          <p:nvPr/>
        </p:nvSpPr>
        <p:spPr>
          <a:xfrm>
            <a:off x="58521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highest monthly reading (Jan 2026)</a:t>
            </a:r>
            <a:endParaRPr lang="en-US" sz="850" dirty="0"/>
          </a:p>
        </p:txBody>
      </p:sp>
      <p:sp>
        <p:nvSpPr>
          <p:cNvPr id="9" name="Shape 6"/>
          <p:cNvSpPr/>
          <p:nvPr/>
        </p:nvSpPr>
        <p:spPr>
          <a:xfrm>
            <a:off x="2560320" y="4078224"/>
            <a:ext cx="1920240" cy="694944"/>
          </a:xfrm>
          <a:prstGeom prst="roundRect">
            <a:avLst>
              <a:gd name="adj" fmla="val 6579"/>
            </a:avLst>
          </a:prstGeom>
          <a:solidFill>
            <a:srgbClr val="F6F5F2"/>
          </a:solidFill>
          <a:ln w="12700">
            <a:solidFill>
              <a:srgbClr val="FFFFFF"/>
            </a:solidFill>
            <a:prstDash val="solid"/>
          </a:ln>
        </p:spPr>
      </p:sp>
      <p:sp>
        <p:nvSpPr>
          <p:cNvPr id="10" name="Text 7"/>
          <p:cNvSpPr/>
          <p:nvPr/>
        </p:nvSpPr>
        <p:spPr>
          <a:xfrm>
            <a:off x="2688336" y="4123944"/>
            <a:ext cx="1664208" cy="310896"/>
          </a:xfrm>
          <a:prstGeom prst="rect">
            <a:avLst/>
          </a:prstGeom>
          <a:noFill/>
          <a:ln/>
        </p:spPr>
        <p:txBody>
          <a:bodyPr wrap="square" lIns="0" tIns="0" rIns="0" bIns="0" rtlCol="0" anchor="ctr"/>
          <a:lstStyle/>
          <a:p>
            <a:pPr marL="0" indent="0">
              <a:buNone/>
            </a:pPr>
            <a:r>
              <a:rPr lang="en-US" sz="1700" b="1" dirty="0">
                <a:solidFill>
                  <a:srgbClr val="8A9BA8"/>
                </a:solidFill>
                <a:latin typeface="Cambria" pitchFamily="34" charset="0"/>
                <a:ea typeface="Cambria" pitchFamily="34" charset="-122"/>
                <a:cs typeface="Cambria" pitchFamily="34" charset="-120"/>
              </a:rPr>
              <a:t>$0.28</a:t>
            </a:r>
            <a:endParaRPr lang="en-US" sz="1700" dirty="0"/>
          </a:p>
        </p:txBody>
      </p:sp>
      <p:sp>
        <p:nvSpPr>
          <p:cNvPr id="11" name="Text 8"/>
          <p:cNvSpPr/>
          <p:nvPr/>
        </p:nvSpPr>
        <p:spPr>
          <a:xfrm>
            <a:off x="268833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lowest monthly reading (Jan 1932)</a:t>
            </a:r>
            <a:endParaRPr lang="en-US" sz="850" dirty="0"/>
          </a:p>
        </p:txBody>
      </p:sp>
      <p:sp>
        <p:nvSpPr>
          <p:cNvPr id="12" name="Shape 9"/>
          <p:cNvSpPr/>
          <p:nvPr/>
        </p:nvSpPr>
        <p:spPr>
          <a:xfrm>
            <a:off x="4663440" y="4078224"/>
            <a:ext cx="1920240" cy="694944"/>
          </a:xfrm>
          <a:prstGeom prst="roundRect">
            <a:avLst>
              <a:gd name="adj" fmla="val 6579"/>
            </a:avLst>
          </a:prstGeom>
          <a:solidFill>
            <a:srgbClr val="F6F5F2"/>
          </a:solidFill>
          <a:ln w="12700">
            <a:solidFill>
              <a:srgbClr val="FFFFFF"/>
            </a:solidFill>
            <a:prstDash val="solid"/>
          </a:ln>
        </p:spPr>
      </p:sp>
      <p:sp>
        <p:nvSpPr>
          <p:cNvPr id="13" name="Text 10"/>
          <p:cNvSpPr/>
          <p:nvPr/>
        </p:nvSpPr>
        <p:spPr>
          <a:xfrm>
            <a:off x="4791456" y="4123944"/>
            <a:ext cx="1664208" cy="310896"/>
          </a:xfrm>
          <a:prstGeom prst="rect">
            <a:avLst/>
          </a:prstGeom>
          <a:noFill/>
          <a:ln/>
        </p:spPr>
        <p:txBody>
          <a:bodyPr wrap="square" lIns="0" tIns="0" rIns="0" bIns="0" rtlCol="0" anchor="ctr"/>
          <a:lstStyle/>
          <a:p>
            <a:pPr marL="0" indent="0">
              <a:buNone/>
            </a:pPr>
            <a:r>
              <a:rPr lang="en-US" sz="1700" b="1" dirty="0">
                <a:solidFill>
                  <a:srgbClr val="B85042"/>
                </a:solidFill>
                <a:latin typeface="Cambria" pitchFamily="34" charset="0"/>
                <a:ea typeface="Cambria" pitchFamily="34" charset="-122"/>
                <a:cs typeface="Cambria" pitchFamily="34" charset="-120"/>
              </a:rPr>
              <a:t>+131.5%</a:t>
            </a:r>
            <a:endParaRPr lang="en-US" sz="1700" dirty="0"/>
          </a:p>
        </p:txBody>
      </p:sp>
      <p:sp>
        <p:nvSpPr>
          <p:cNvPr id="14" name="Text 11"/>
          <p:cNvSpPr/>
          <p:nvPr/>
        </p:nvSpPr>
        <p:spPr>
          <a:xfrm>
            <a:off x="479145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2026 YTD annual average, the largest of the three</a:t>
            </a:r>
            <a:endParaRPr lang="en-US" sz="850" dirty="0"/>
          </a:p>
        </p:txBody>
      </p:sp>
      <p:sp>
        <p:nvSpPr>
          <p:cNvPr id="15" name="Shape 12"/>
          <p:cNvSpPr/>
          <p:nvPr/>
        </p:nvSpPr>
        <p:spPr>
          <a:xfrm>
            <a:off x="6766560" y="4078224"/>
            <a:ext cx="1920240" cy="694944"/>
          </a:xfrm>
          <a:prstGeom prst="roundRect">
            <a:avLst>
              <a:gd name="adj" fmla="val 6579"/>
            </a:avLst>
          </a:prstGeom>
          <a:solidFill>
            <a:srgbClr val="F6F5F2"/>
          </a:solidFill>
          <a:ln w="12700">
            <a:solidFill>
              <a:srgbClr val="FFFFFF"/>
            </a:solidFill>
            <a:prstDash val="solid"/>
          </a:ln>
        </p:spPr>
      </p:sp>
      <p:sp>
        <p:nvSpPr>
          <p:cNvPr id="16" name="Text 13"/>
          <p:cNvSpPr/>
          <p:nvPr/>
        </p:nvSpPr>
        <p:spPr>
          <a:xfrm>
            <a:off x="6894576" y="4123944"/>
            <a:ext cx="1664208" cy="310896"/>
          </a:xfrm>
          <a:prstGeom prst="rect">
            <a:avLst/>
          </a:prstGeom>
          <a:noFill/>
          <a:ln/>
        </p:spPr>
        <p:txBody>
          <a:bodyPr wrap="square" lIns="0" tIns="0" rIns="0" bIns="0" rtlCol="0" anchor="ctr"/>
          <a:lstStyle/>
          <a:p>
            <a:pPr marL="0" indent="0">
              <a:buNone/>
            </a:pPr>
            <a:r>
              <a:rPr lang="en-US" sz="1700" b="1" dirty="0">
                <a:solidFill>
                  <a:srgbClr val="B85042"/>
                </a:solidFill>
                <a:latin typeface="Cambria" pitchFamily="34" charset="0"/>
                <a:ea typeface="Cambria" pitchFamily="34" charset="-122"/>
                <a:cs typeface="Cambria" pitchFamily="34" charset="-120"/>
              </a:rPr>
              <a:t>−62%</a:t>
            </a:r>
            <a:endParaRPr lang="en-US" sz="1700" dirty="0"/>
          </a:p>
        </p:txBody>
      </p:sp>
      <p:sp>
        <p:nvSpPr>
          <p:cNvPr id="17" name="Text 14"/>
          <p:cNvSpPr/>
          <p:nvPr/>
        </p:nvSpPr>
        <p:spPr>
          <a:xfrm>
            <a:off x="689457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largest one-month fall (Mar 1980)</a:t>
            </a:r>
            <a:endParaRPr lang="en-US" sz="850" dirty="0"/>
          </a:p>
        </p:txBody>
      </p:sp>
    </p:spTree>
    <p:extLst>
      <p:ext uri="{BB962C8B-B14F-4D97-AF65-F5344CB8AC3E}">
        <p14:creationId xmlns:p14="http://schemas.microsoft.com/office/powerpoint/2010/main" val="21060165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19456"/>
            <a:ext cx="8229600" cy="420624"/>
          </a:xfrm>
          <a:prstGeom prst="rect">
            <a:avLst/>
          </a:prstGeom>
          <a:noFill/>
        </p:spPr>
        <p:txBody>
          <a:bodyPr wrap="square" lIns="0" tIns="0" rIns="0" bIns="0" anchor="ctr">
            <a:spAutoFit/>
          </a:bodyPr>
          <a:lstStyle/>
          <a:p>
            <a:pPr algn="l"/>
            <a:r>
              <a:rPr sz="2200" b="1" i="0">
                <a:solidFill>
                  <a:srgbClr val="212121"/>
                </a:solidFill>
                <a:latin typeface="Cambria"/>
              </a:rPr>
              <a:t>Record prices</a:t>
            </a:r>
          </a:p>
        </p:txBody>
      </p:sp>
      <p:sp>
        <p:nvSpPr>
          <p:cNvPr id="3" name="TextBox 2"/>
          <p:cNvSpPr txBox="1"/>
          <p:nvPr/>
        </p:nvSpPr>
        <p:spPr>
          <a:xfrm>
            <a:off x="457200" y="649224"/>
            <a:ext cx="8229600" cy="237744"/>
          </a:xfrm>
          <a:prstGeom prst="rect">
            <a:avLst/>
          </a:prstGeom>
          <a:noFill/>
        </p:spPr>
        <p:txBody>
          <a:bodyPr wrap="square" lIns="0" tIns="0" rIns="0" bIns="0" anchor="ctr">
            <a:spAutoFit/>
          </a:bodyPr>
          <a:lstStyle/>
          <a:p>
            <a:pPr algn="l"/>
            <a:r>
              <a:rPr sz="1100" b="0" i="0">
                <a:solidFill>
                  <a:srgbClr val="666666"/>
                </a:solidFill>
                <a:latin typeface="Calibri"/>
              </a:rPr>
              <a:t>Our monthly series against the actual daily records, nominal USD unless stated</a:t>
            </a:r>
          </a:p>
        </p:txBody>
      </p:sp>
      <p:graphicFrame>
        <p:nvGraphicFramePr>
          <p:cNvPr id="4" name="Table 3"/>
          <p:cNvGraphicFramePr>
            <a:graphicFrameLocks noGrp="1"/>
          </p:cNvGraphicFramePr>
          <p:nvPr>
            <p:extLst>
              <p:ext uri="{D42A27DB-BD31-4B8C-83A1-F6EECF244321}">
                <p14:modId xmlns:p14="http://schemas.microsoft.com/office/powerpoint/2010/main" val="2711354992"/>
              </p:ext>
            </p:extLst>
          </p:nvPr>
        </p:nvGraphicFramePr>
        <p:xfrm>
          <a:off x="457200" y="1024128"/>
          <a:ext cx="8229600" cy="2560320"/>
        </p:xfrm>
        <a:graphic>
          <a:graphicData uri="http://schemas.openxmlformats.org/drawingml/2006/table">
            <a:tbl>
              <a:tblPr>
                <a:tableStyleId>{5C22544A-7EE6-4342-B048-85BDC9FD1C3A}</a:tableStyleId>
              </a:tblPr>
              <a:tblGrid>
                <a:gridCol w="114300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384048">
                <a:tc>
                  <a:txBody>
                    <a:bodyPr/>
                    <a:lstStyle/>
                    <a:p>
                      <a:pPr>
                        <a:lnSpc>
                          <a:spcPts val="1150"/>
                        </a:lnSpc>
                      </a:pPr>
                      <a:endParaRPr/>
                    </a:p>
                  </a:txBody>
                  <a:tcPr marR="73152" marT="54864" marB="54864" anchor="ctr">
                    <a:solidFill>
                      <a:srgbClr val="F6F5F2"/>
                    </a:solidFill>
                  </a:tcPr>
                </a:tc>
                <a:tc>
                  <a:txBody>
                    <a:bodyPr/>
                    <a:lstStyle/>
                    <a:p>
                      <a:pPr>
                        <a:lnSpc>
                          <a:spcPts val="1150"/>
                        </a:lnSpc>
                      </a:pPr>
                      <a:r>
                        <a:rPr sz="900" b="1">
                          <a:solidFill>
                            <a:srgbClr val="212121"/>
                          </a:solidFill>
                          <a:latin typeface="Calibri"/>
                        </a:rPr>
                        <a:t>Our series</a:t>
                      </a:r>
                    </a:p>
                    <a:p>
                      <a:pPr>
                        <a:lnSpc>
                          <a:spcPts val="1150"/>
                        </a:lnSpc>
                      </a:pPr>
                      <a:r>
                        <a:rPr sz="900" b="1">
                          <a:solidFill>
                            <a:srgbClr val="212121"/>
                          </a:solidFill>
                          <a:latin typeface="Calibri"/>
                        </a:rPr>
                        <a:t>(monthly, 1st of month)</a:t>
                      </a:r>
                    </a:p>
                  </a:txBody>
                  <a:tcPr marR="73152" marT="54864" marB="54864" anchor="ctr">
                    <a:solidFill>
                      <a:srgbClr val="F6F5F2"/>
                    </a:solidFill>
                  </a:tcPr>
                </a:tc>
                <a:tc>
                  <a:txBody>
                    <a:bodyPr/>
                    <a:lstStyle/>
                    <a:p>
                      <a:pPr>
                        <a:lnSpc>
                          <a:spcPts val="1150"/>
                        </a:lnSpc>
                      </a:pPr>
                      <a:r>
                        <a:rPr sz="900" b="1">
                          <a:solidFill>
                            <a:srgbClr val="212121"/>
                          </a:solidFill>
                          <a:latin typeface="Calibri"/>
                        </a:rPr>
                        <a:t>Actual daily high</a:t>
                      </a:r>
                    </a:p>
                  </a:txBody>
                  <a:tcPr marR="73152" marT="54864" marB="54864" anchor="ctr">
                    <a:solidFill>
                      <a:srgbClr val="F6F5F2"/>
                    </a:solidFill>
                  </a:tcPr>
                </a:tc>
                <a:tc>
                  <a:txBody>
                    <a:bodyPr/>
                    <a:lstStyle/>
                    <a:p>
                      <a:pPr>
                        <a:lnSpc>
                          <a:spcPts val="1150"/>
                        </a:lnSpc>
                      </a:pPr>
                      <a:r>
                        <a:rPr sz="900" b="1">
                          <a:solidFill>
                            <a:srgbClr val="212121"/>
                          </a:solidFill>
                          <a:latin typeface="Calibri"/>
                        </a:rPr>
                        <a:t>Actual daily low</a:t>
                      </a:r>
                    </a:p>
                  </a:txBody>
                  <a:tcPr marR="73152" marT="54864" marB="54864" anchor="ctr">
                    <a:solidFill>
                      <a:srgbClr val="F6F5F2"/>
                    </a:solidFill>
                  </a:tcPr>
                </a:tc>
                <a:extLst>
                  <a:ext uri="{0D108BD9-81ED-4DB2-BD59-A6C34878D82A}">
                    <a16:rowId xmlns:a16="http://schemas.microsoft.com/office/drawing/2014/main" val="10000"/>
                  </a:ext>
                </a:extLst>
              </a:tr>
              <a:tr h="713232">
                <a:tc>
                  <a:txBody>
                    <a:bodyPr/>
                    <a:lstStyle/>
                    <a:p>
                      <a:pPr>
                        <a:lnSpc>
                          <a:spcPts val="1150"/>
                        </a:lnSpc>
                      </a:pPr>
                      <a:r>
                        <a:rPr sz="1200" b="1">
                          <a:solidFill>
                            <a:srgbClr val="2F4858"/>
                          </a:solidFill>
                          <a:latin typeface="Cambria"/>
                        </a:rPr>
                        <a:t>Brent oil</a:t>
                      </a:r>
                    </a:p>
                  </a:txBody>
                  <a:tcPr marR="73152" marT="54864" marB="54864" anchor="ctr">
                    <a:solidFill>
                      <a:srgbClr val="FFFFFF"/>
                    </a:solidFill>
                  </a:tcPr>
                </a:tc>
                <a:tc>
                  <a:txBody>
                    <a:bodyPr/>
                    <a:lstStyle/>
                    <a:p>
                      <a:pPr>
                        <a:lnSpc>
                          <a:spcPts val="1150"/>
                        </a:lnSpc>
                      </a:pPr>
                      <a:r>
                        <a:rPr sz="1200" b="1" dirty="0" smtClean="0">
                          <a:solidFill>
                            <a:srgbClr val="212121"/>
                          </a:solidFill>
                          <a:latin typeface="Cambria"/>
                        </a:rPr>
                        <a:t>$211.21  Jun 2008</a:t>
                      </a:r>
                    </a:p>
                    <a:p>
                      <a:pPr>
                        <a:lnSpc>
                          <a:spcPts val="1150"/>
                        </a:lnSpc>
                      </a:pPr>
                      <a:r>
                        <a:rPr sz="800" dirty="0" smtClean="0">
                          <a:solidFill>
                            <a:srgbClr val="666666"/>
                          </a:solidFill>
                          <a:latin typeface="Calibri"/>
                        </a:rPr>
                        <a:t>$</a:t>
                      </a:r>
                      <a:r>
                        <a:rPr sz="800" dirty="0">
                          <a:solidFill>
                            <a:srgbClr val="666666"/>
                          </a:solidFill>
                          <a:latin typeface="Calibri"/>
                        </a:rPr>
                        <a:t>21.11  Mar 1946</a:t>
                      </a:r>
                    </a:p>
                    <a:p>
                      <a:pPr>
                        <a:lnSpc>
                          <a:spcPts val="1150"/>
                        </a:lnSpc>
                      </a:pPr>
                      <a:r>
                        <a:rPr sz="800" dirty="0">
                          <a:solidFill>
                            <a:srgbClr val="666666"/>
                          </a:solidFill>
                          <a:latin typeface="Calibri"/>
                        </a:rPr>
                        <a:t>inflation-adjusted USD</a:t>
                      </a:r>
                    </a:p>
                  </a:txBody>
                  <a:tcPr marR="73152" marT="54864" marB="54864" anchor="ctr">
                    <a:solidFill>
                      <a:srgbClr val="FFFFFF"/>
                    </a:solidFill>
                  </a:tcPr>
                </a:tc>
                <a:tc>
                  <a:txBody>
                    <a:bodyPr/>
                    <a:lstStyle/>
                    <a:p>
                      <a:pPr>
                        <a:lnSpc>
                          <a:spcPts val="1150"/>
                        </a:lnSpc>
                      </a:pPr>
                      <a:r>
                        <a:rPr sz="1200" b="1">
                          <a:solidFill>
                            <a:srgbClr val="B85042"/>
                          </a:solidFill>
                          <a:latin typeface="Cambria"/>
                        </a:rPr>
                        <a:t>$146.08</a:t>
                      </a:r>
                    </a:p>
                    <a:p>
                      <a:pPr>
                        <a:lnSpc>
                          <a:spcPts val="1150"/>
                        </a:lnSpc>
                      </a:pPr>
                      <a:r>
                        <a:rPr sz="800">
                          <a:solidFill>
                            <a:srgbClr val="666666"/>
                          </a:solidFill>
                          <a:latin typeface="Calibri"/>
                        </a:rPr>
                        <a:t>3 July 2008</a:t>
                      </a:r>
                    </a:p>
                    <a:p>
                      <a:pPr>
                        <a:lnSpc>
                          <a:spcPts val="1150"/>
                        </a:lnSpc>
                      </a:pPr>
                      <a:r>
                        <a:rPr sz="800">
                          <a:solidFill>
                            <a:srgbClr val="666666"/>
                          </a:solidFill>
                          <a:latin typeface="Calibri"/>
                        </a:rPr>
                        <a:t>Dated Brent set its own record</a:t>
                      </a:r>
                    </a:p>
                    <a:p>
                      <a:pPr>
                        <a:lnSpc>
                          <a:spcPts val="1150"/>
                        </a:lnSpc>
                      </a:pPr>
                      <a:r>
                        <a:rPr sz="800">
                          <a:solidFill>
                            <a:srgbClr val="666666"/>
                          </a:solidFill>
                          <a:latin typeface="Calibri"/>
                        </a:rPr>
                        <a:t>at $144.42 on 7 Apr 2026</a:t>
                      </a:r>
                    </a:p>
                  </a:txBody>
                  <a:tcPr marR="73152" marT="54864" marB="54864" anchor="ctr">
                    <a:solidFill>
                      <a:srgbClr val="FFFFFF"/>
                    </a:solidFill>
                  </a:tcPr>
                </a:tc>
                <a:tc>
                  <a:txBody>
                    <a:bodyPr/>
                    <a:lstStyle/>
                    <a:p>
                      <a:pPr>
                        <a:lnSpc>
                          <a:spcPts val="1150"/>
                        </a:lnSpc>
                      </a:pPr>
                      <a:r>
                        <a:rPr sz="1200" b="1">
                          <a:solidFill>
                            <a:srgbClr val="B85042"/>
                          </a:solidFill>
                          <a:latin typeface="Cambria"/>
                        </a:rPr>
                        <a:t>$9.12</a:t>
                      </a:r>
                    </a:p>
                    <a:p>
                      <a:pPr>
                        <a:lnSpc>
                          <a:spcPts val="1150"/>
                        </a:lnSpc>
                      </a:pPr>
                      <a:r>
                        <a:rPr sz="800">
                          <a:solidFill>
                            <a:srgbClr val="666666"/>
                          </a:solidFill>
                          <a:latin typeface="Calibri"/>
                        </a:rPr>
                        <a:t>21 April 2020</a:t>
                      </a:r>
                    </a:p>
                    <a:p>
                      <a:pPr>
                        <a:lnSpc>
                          <a:spcPts val="1150"/>
                        </a:lnSpc>
                      </a:pPr>
                      <a:r>
                        <a:rPr sz="800">
                          <a:solidFill>
                            <a:srgbClr val="666666"/>
                          </a:solidFill>
                          <a:latin typeface="Calibri"/>
                        </a:rPr>
                        <a:t>Covid demand collapse</a:t>
                      </a:r>
                    </a:p>
                  </a:txBody>
                  <a:tcPr marR="73152" marT="54864" marB="54864" anchor="ctr">
                    <a:solidFill>
                      <a:srgbClr val="FFFFFF"/>
                    </a:solidFill>
                  </a:tcPr>
                </a:tc>
                <a:extLst>
                  <a:ext uri="{0D108BD9-81ED-4DB2-BD59-A6C34878D82A}">
                    <a16:rowId xmlns:a16="http://schemas.microsoft.com/office/drawing/2014/main" val="10001"/>
                  </a:ext>
                </a:extLst>
              </a:tr>
              <a:tr h="713232">
                <a:tc>
                  <a:txBody>
                    <a:bodyPr/>
                    <a:lstStyle/>
                    <a:p>
                      <a:pPr>
                        <a:lnSpc>
                          <a:spcPts val="1150"/>
                        </a:lnSpc>
                      </a:pPr>
                      <a:r>
                        <a:rPr sz="1200" b="1">
                          <a:solidFill>
                            <a:srgbClr val="B8860B"/>
                          </a:solidFill>
                          <a:latin typeface="Cambria"/>
                        </a:rPr>
                        <a:t>Gold</a:t>
                      </a:r>
                    </a:p>
                  </a:txBody>
                  <a:tcPr marR="73152" marT="54864" marB="54864" anchor="ctr">
                    <a:solidFill>
                      <a:srgbClr val="FFFFFF"/>
                    </a:solidFill>
                  </a:tcPr>
                </a:tc>
                <a:tc>
                  <a:txBody>
                    <a:bodyPr/>
                    <a:lstStyle/>
                    <a:p>
                      <a:pPr>
                        <a:lnSpc>
                          <a:spcPts val="1150"/>
                        </a:lnSpc>
                      </a:pPr>
                      <a:r>
                        <a:rPr sz="1200" b="1">
                          <a:solidFill>
                            <a:srgbClr val="212121"/>
                          </a:solidFill>
                          <a:latin typeface="Cambria"/>
                        </a:rPr>
                        <a:t>$5,277.89  Feb 2026</a:t>
                      </a:r>
                    </a:p>
                    <a:p>
                      <a:pPr>
                        <a:lnSpc>
                          <a:spcPts val="1150"/>
                        </a:lnSpc>
                      </a:pPr>
                      <a:r>
                        <a:rPr sz="800">
                          <a:solidFill>
                            <a:srgbClr val="666666"/>
                          </a:solidFill>
                          <a:latin typeface="Calibri"/>
                        </a:rPr>
                        <a:t>$19.25  Jan 1915</a:t>
                      </a:r>
                    </a:p>
                  </a:txBody>
                  <a:tcPr marR="73152" marT="54864" marB="54864" anchor="ctr">
                    <a:solidFill>
                      <a:srgbClr val="FFFFFF"/>
                    </a:solidFill>
                  </a:tcPr>
                </a:tc>
                <a:tc>
                  <a:txBody>
                    <a:bodyPr/>
                    <a:lstStyle/>
                    <a:p>
                      <a:pPr>
                        <a:lnSpc>
                          <a:spcPts val="1150"/>
                        </a:lnSpc>
                      </a:pPr>
                      <a:r>
                        <a:rPr sz="1200" b="1" dirty="0">
                          <a:solidFill>
                            <a:srgbClr val="B85042"/>
                          </a:solidFill>
                          <a:latin typeface="Cambria"/>
                        </a:rPr>
                        <a:t>$</a:t>
                      </a:r>
                      <a:r>
                        <a:rPr sz="1200" b="1" dirty="0" smtClean="0">
                          <a:solidFill>
                            <a:srgbClr val="B85042"/>
                          </a:solidFill>
                          <a:latin typeface="Cambria"/>
                        </a:rPr>
                        <a:t>5,5</a:t>
                      </a:r>
                      <a:r>
                        <a:rPr lang="en-US" sz="1200" b="1" dirty="0" smtClean="0">
                          <a:solidFill>
                            <a:srgbClr val="B85042"/>
                          </a:solidFill>
                          <a:latin typeface="Cambria"/>
                        </a:rPr>
                        <a:t>95</a:t>
                      </a:r>
                      <a:endParaRPr sz="1200" b="1" dirty="0">
                        <a:solidFill>
                          <a:srgbClr val="B85042"/>
                        </a:solidFill>
                        <a:latin typeface="Cambria"/>
                      </a:endParaRPr>
                    </a:p>
                    <a:p>
                      <a:pPr>
                        <a:lnSpc>
                          <a:spcPts val="1150"/>
                        </a:lnSpc>
                      </a:pPr>
                      <a:r>
                        <a:rPr sz="800" dirty="0">
                          <a:solidFill>
                            <a:srgbClr val="666666"/>
                          </a:solidFill>
                          <a:latin typeface="Calibri"/>
                        </a:rPr>
                        <a:t>28 January 2026</a:t>
                      </a:r>
                    </a:p>
                    <a:p>
                      <a:pPr>
                        <a:lnSpc>
                          <a:spcPts val="1150"/>
                        </a:lnSpc>
                      </a:pPr>
                      <a:r>
                        <a:rPr sz="800" dirty="0">
                          <a:solidFill>
                            <a:srgbClr val="666666"/>
                          </a:solidFill>
                          <a:latin typeface="Calibri"/>
                        </a:rPr>
                        <a:t>intraday</a:t>
                      </a:r>
                    </a:p>
                  </a:txBody>
                  <a:tcPr marR="73152" marT="54864" marB="54864" anchor="ctr">
                    <a:solidFill>
                      <a:srgbClr val="FFFFFF"/>
                    </a:solidFill>
                  </a:tcPr>
                </a:tc>
                <a:tc>
                  <a:txBody>
                    <a:bodyPr/>
                    <a:lstStyle/>
                    <a:p>
                      <a:pPr>
                        <a:lnSpc>
                          <a:spcPts val="1150"/>
                        </a:lnSpc>
                      </a:pPr>
                      <a:r>
                        <a:rPr sz="1200" b="1" dirty="0" smtClean="0">
                          <a:solidFill>
                            <a:srgbClr val="B85042"/>
                          </a:solidFill>
                          <a:latin typeface="Cambria"/>
                        </a:rPr>
                        <a:t>$</a:t>
                      </a:r>
                      <a:r>
                        <a:rPr lang="en-US" sz="1200" b="1" dirty="0" smtClean="0">
                          <a:solidFill>
                            <a:srgbClr val="B85042"/>
                          </a:solidFill>
                          <a:latin typeface="Cambria"/>
                        </a:rPr>
                        <a:t>19</a:t>
                      </a:r>
                      <a:r>
                        <a:rPr sz="1200" b="1" dirty="0" smtClean="0">
                          <a:solidFill>
                            <a:srgbClr val="B85042"/>
                          </a:solidFill>
                          <a:latin typeface="Cambria"/>
                        </a:rPr>
                        <a:t>.</a:t>
                      </a:r>
                      <a:r>
                        <a:rPr lang="en-US" sz="1200" b="1" dirty="0" smtClean="0">
                          <a:solidFill>
                            <a:srgbClr val="B85042"/>
                          </a:solidFill>
                          <a:latin typeface="Cambria"/>
                        </a:rPr>
                        <a:t>25</a:t>
                      </a:r>
                      <a:endParaRPr sz="1200" b="1" dirty="0">
                        <a:solidFill>
                          <a:srgbClr val="B85042"/>
                        </a:solidFill>
                        <a:latin typeface="Cambria"/>
                      </a:endParaRPr>
                    </a:p>
                    <a:p>
                      <a:pPr>
                        <a:lnSpc>
                          <a:spcPts val="1150"/>
                        </a:lnSpc>
                      </a:pPr>
                      <a:r>
                        <a:rPr sz="800" dirty="0">
                          <a:solidFill>
                            <a:srgbClr val="666666"/>
                          </a:solidFill>
                          <a:latin typeface="Calibri"/>
                        </a:rPr>
                        <a:t>5 January 1905, gold </a:t>
                      </a:r>
                      <a:r>
                        <a:rPr sz="800" dirty="0" smtClean="0">
                          <a:solidFill>
                            <a:srgbClr val="666666"/>
                          </a:solidFill>
                          <a:latin typeface="Calibri"/>
                        </a:rPr>
                        <a:t>standard</a:t>
                      </a:r>
                      <a:endParaRPr sz="800" dirty="0">
                        <a:solidFill>
                          <a:srgbClr val="666666"/>
                        </a:solidFill>
                        <a:latin typeface="Calibri"/>
                      </a:endParaRPr>
                    </a:p>
                  </a:txBody>
                  <a:tcPr marR="73152" marT="54864" marB="54864" anchor="ctr">
                    <a:solidFill>
                      <a:srgbClr val="FFFFFF"/>
                    </a:solidFill>
                  </a:tcPr>
                </a:tc>
                <a:extLst>
                  <a:ext uri="{0D108BD9-81ED-4DB2-BD59-A6C34878D82A}">
                    <a16:rowId xmlns:a16="http://schemas.microsoft.com/office/drawing/2014/main" val="10002"/>
                  </a:ext>
                </a:extLst>
              </a:tr>
              <a:tr h="713232">
                <a:tc>
                  <a:txBody>
                    <a:bodyPr/>
                    <a:lstStyle/>
                    <a:p>
                      <a:pPr>
                        <a:lnSpc>
                          <a:spcPts val="1150"/>
                        </a:lnSpc>
                      </a:pPr>
                      <a:r>
                        <a:rPr sz="1200" b="1">
                          <a:solidFill>
                            <a:srgbClr val="8A9BA8"/>
                          </a:solidFill>
                          <a:latin typeface="Cambria"/>
                        </a:rPr>
                        <a:t>Silver</a:t>
                      </a:r>
                    </a:p>
                  </a:txBody>
                  <a:tcPr marR="73152" marT="54864" marB="54864" anchor="ctr">
                    <a:solidFill>
                      <a:srgbClr val="FFFFFF"/>
                    </a:solidFill>
                  </a:tcPr>
                </a:tc>
                <a:tc>
                  <a:txBody>
                    <a:bodyPr/>
                    <a:lstStyle/>
                    <a:p>
                      <a:pPr>
                        <a:lnSpc>
                          <a:spcPts val="1150"/>
                        </a:lnSpc>
                      </a:pPr>
                      <a:r>
                        <a:rPr sz="1200" b="1">
                          <a:solidFill>
                            <a:srgbClr val="212121"/>
                          </a:solidFill>
                          <a:latin typeface="Cambria"/>
                        </a:rPr>
                        <a:t>$113.95  Jan 2026</a:t>
                      </a:r>
                    </a:p>
                    <a:p>
                      <a:pPr>
                        <a:lnSpc>
                          <a:spcPts val="1150"/>
                        </a:lnSpc>
                      </a:pPr>
                      <a:r>
                        <a:rPr sz="800">
                          <a:solidFill>
                            <a:srgbClr val="666666"/>
                          </a:solidFill>
                          <a:latin typeface="Calibri"/>
                        </a:rPr>
                        <a:t>$0.28  Jan 1932</a:t>
                      </a:r>
                    </a:p>
                  </a:txBody>
                  <a:tcPr marR="73152" marT="54864" marB="54864" anchor="ctr">
                    <a:solidFill>
                      <a:srgbClr val="FFFFFF"/>
                    </a:solidFill>
                  </a:tcPr>
                </a:tc>
                <a:tc>
                  <a:txBody>
                    <a:bodyPr/>
                    <a:lstStyle/>
                    <a:p>
                      <a:pPr>
                        <a:lnSpc>
                          <a:spcPts val="1150"/>
                        </a:lnSpc>
                      </a:pPr>
                      <a:r>
                        <a:rPr sz="1200" b="1" dirty="0">
                          <a:solidFill>
                            <a:srgbClr val="B85042"/>
                          </a:solidFill>
                          <a:latin typeface="Cambria"/>
                        </a:rPr>
                        <a:t>$</a:t>
                      </a:r>
                      <a:r>
                        <a:rPr sz="1200" b="1" dirty="0" smtClean="0">
                          <a:solidFill>
                            <a:srgbClr val="B85042"/>
                          </a:solidFill>
                          <a:latin typeface="Cambria"/>
                        </a:rPr>
                        <a:t>121.6</a:t>
                      </a:r>
                      <a:r>
                        <a:rPr lang="en-US" sz="1200" b="1" dirty="0" smtClean="0">
                          <a:solidFill>
                            <a:srgbClr val="B85042"/>
                          </a:solidFill>
                          <a:latin typeface="Cambria"/>
                        </a:rPr>
                        <a:t>4</a:t>
                      </a:r>
                      <a:endParaRPr sz="1200" b="1" dirty="0">
                        <a:solidFill>
                          <a:srgbClr val="B85042"/>
                        </a:solidFill>
                        <a:latin typeface="Cambria"/>
                      </a:endParaRPr>
                    </a:p>
                    <a:p>
                      <a:pPr>
                        <a:lnSpc>
                          <a:spcPts val="1150"/>
                        </a:lnSpc>
                      </a:pPr>
                      <a:r>
                        <a:rPr sz="800" dirty="0">
                          <a:solidFill>
                            <a:srgbClr val="666666"/>
                          </a:solidFill>
                          <a:latin typeface="Calibri"/>
                        </a:rPr>
                        <a:t>29 January 2026</a:t>
                      </a:r>
                    </a:p>
                    <a:p>
                      <a:pPr>
                        <a:lnSpc>
                          <a:spcPts val="1150"/>
                        </a:lnSpc>
                      </a:pPr>
                      <a:r>
                        <a:rPr sz="800" dirty="0">
                          <a:solidFill>
                            <a:srgbClr val="666666"/>
                          </a:solidFill>
                          <a:latin typeface="Calibri"/>
                        </a:rPr>
                        <a:t>intraday</a:t>
                      </a:r>
                    </a:p>
                  </a:txBody>
                  <a:tcPr marR="73152" marT="54864" marB="54864" anchor="ctr">
                    <a:solidFill>
                      <a:srgbClr val="FFFFFF"/>
                    </a:solidFill>
                  </a:tcPr>
                </a:tc>
                <a:tc>
                  <a:txBody>
                    <a:bodyPr/>
                    <a:lstStyle/>
                    <a:p>
                      <a:pPr>
                        <a:lnSpc>
                          <a:spcPts val="1150"/>
                        </a:lnSpc>
                      </a:pPr>
                      <a:r>
                        <a:rPr sz="1200" b="1" dirty="0">
                          <a:solidFill>
                            <a:srgbClr val="B85042"/>
                          </a:solidFill>
                          <a:latin typeface="Cambria"/>
                        </a:rPr>
                        <a:t>$0.25</a:t>
                      </a:r>
                    </a:p>
                    <a:p>
                      <a:pPr>
                        <a:lnSpc>
                          <a:spcPts val="1150"/>
                        </a:lnSpc>
                      </a:pPr>
                      <a:r>
                        <a:rPr sz="800" dirty="0">
                          <a:solidFill>
                            <a:srgbClr val="666666"/>
                          </a:solidFill>
                          <a:latin typeface="Calibri"/>
                        </a:rPr>
                        <a:t>late 1932</a:t>
                      </a:r>
                    </a:p>
                    <a:p>
                      <a:pPr>
                        <a:lnSpc>
                          <a:spcPts val="1150"/>
                        </a:lnSpc>
                      </a:pPr>
                      <a:r>
                        <a:rPr sz="800" dirty="0">
                          <a:solidFill>
                            <a:srgbClr val="666666"/>
                          </a:solidFill>
                          <a:latin typeface="Calibri"/>
                        </a:rPr>
                        <a:t>Great Depression</a:t>
                      </a:r>
                    </a:p>
                  </a:txBody>
                  <a:tcPr marR="73152" marT="54864" marB="54864" anchor="ctr">
                    <a:solidFill>
                      <a:srgbClr val="FFFFFF"/>
                    </a:solidFill>
                  </a:tcPr>
                </a:tc>
                <a:extLst>
                  <a:ext uri="{0D108BD9-81ED-4DB2-BD59-A6C34878D82A}">
                    <a16:rowId xmlns:a16="http://schemas.microsoft.com/office/drawing/2014/main" val="10003"/>
                  </a:ext>
                </a:extLst>
              </a:tr>
            </a:tbl>
          </a:graphicData>
        </a:graphic>
      </p:graphicFrame>
      <p:sp>
        <p:nvSpPr>
          <p:cNvPr id="5" name="Rounded Rectangle 4"/>
          <p:cNvSpPr/>
          <p:nvPr/>
        </p:nvSpPr>
        <p:spPr>
          <a:xfrm>
            <a:off x="457200" y="3703320"/>
            <a:ext cx="8229600" cy="932688"/>
          </a:xfrm>
          <a:prstGeom prst="roundRect">
            <a:avLst>
              <a:gd name="adj" fmla="val 6000"/>
            </a:avLst>
          </a:prstGeom>
          <a:solidFill>
            <a:srgbClr val="F6F5F2"/>
          </a:solidFill>
          <a:ln>
            <a:noFill/>
          </a:ln>
          <a:effectLst/>
        </p:spPr>
        <p:style>
          <a:lnRef idx="1">
            <a:schemeClr val="accent1"/>
          </a:lnRef>
          <a:fillRef idx="3">
            <a:schemeClr val="accent1"/>
          </a:fillRef>
          <a:effectRef idx="2">
            <a:schemeClr val="accent1"/>
          </a:effectRef>
          <a:fontRef idx="minor">
            <a:schemeClr val="lt1"/>
          </a:fontRef>
        </p:style>
        <p:txBody>
          <a:bodyPr wrap="square" lIns="146304" tIns="91440" rIns="146304" bIns="73152" rtlCol="0" anchor="ctr"/>
          <a:lstStyle/>
          <a:p>
            <a:pPr algn="l">
              <a:lnSpc>
                <a:spcPts val="1300"/>
              </a:lnSpc>
            </a:pPr>
            <a:r>
              <a:rPr sz="1000" b="1">
                <a:solidFill>
                  <a:srgbClr val="212121"/>
                </a:solidFill>
                <a:latin typeface="Calibri"/>
              </a:rPr>
              <a:t>Why our numbers differ. </a:t>
            </a:r>
            <a:r>
              <a:rPr sz="1000" b="0">
                <a:solidFill>
                  <a:srgbClr val="212121"/>
                </a:solidFill>
                <a:latin typeface="Calibri"/>
              </a:rPr>
              <a:t>Our files carry one observation per month, dated the 1st, so a daily spike between those dates is invisible to us. The oil series is also inflation-adjusted, which is why $211 in June 2008 is really $132 of 2008 money. And Brent as a benchmark only starts in May 1987 — before that our oil series is US crude.</a:t>
            </a:r>
          </a:p>
          <a:p>
            <a:pPr algn="l">
              <a:lnSpc>
                <a:spcPts val="1200"/>
              </a:lnSpc>
            </a:pPr>
            <a:r>
              <a:rPr sz="800">
                <a:solidFill>
                  <a:srgbClr val="666666"/>
                </a:solidFill>
                <a:latin typeface="Calibri"/>
              </a:rPr>
              <a:t>Sources: EIA Europe Brent spot · Platts Dated Brent · LBMA and spot gold and silver fixings. Silver's 1980 high of $49.45 is worth about $203 in today's money, so silver's 2026 record is nominal, not real.</a:t>
            </a:r>
          </a:p>
        </p:txBody>
      </p:sp>
      <p:sp>
        <p:nvSpPr>
          <p:cNvPr id="6" name="TextBox 5"/>
          <p:cNvSpPr txBox="1"/>
          <p:nvPr/>
        </p:nvSpPr>
        <p:spPr>
          <a:xfrm>
            <a:off x="8549640" y="4773168"/>
            <a:ext cx="365760" cy="228600"/>
          </a:xfrm>
          <a:prstGeom prst="rect">
            <a:avLst/>
          </a:prstGeom>
          <a:noFill/>
        </p:spPr>
        <p:txBody>
          <a:bodyPr wrap="square" lIns="0" tIns="0" rIns="0" bIns="0" anchor="t">
            <a:spAutoFit/>
          </a:bodyPr>
          <a:lstStyle/>
          <a:p>
            <a:pPr algn="r"/>
            <a:r>
              <a:rPr sz="900" b="0" i="0">
                <a:solidFill>
                  <a:srgbClr val="8C8C8C"/>
                </a:solidFill>
                <a:latin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549640" y="4773168"/>
            <a:ext cx="365760" cy="228600"/>
          </a:xfrm>
          <a:prstGeom prst="rect">
            <a:avLst/>
          </a:prstGeom>
          <a:noFill/>
          <a:ln/>
        </p:spPr>
        <p:txBody>
          <a:bodyPr wrap="square" rtlCol="0" anchor="ctr"/>
          <a:lstStyle/>
          <a:p>
            <a:pPr marL="0" indent="0" algn="r">
              <a:buNone/>
            </a:pPr>
            <a:r>
              <a:rPr lang="en-US" sz="900" dirty="0">
                <a:solidFill>
                  <a:srgbClr val="8C8C8C"/>
                </a:solidFill>
                <a:latin typeface="Calibri" pitchFamily="34" charset="0"/>
                <a:ea typeface="Calibri" pitchFamily="34" charset="-122"/>
                <a:cs typeface="Calibri" pitchFamily="34" charset="-120"/>
              </a:rPr>
              <a:t>8</a:t>
            </a:r>
            <a:endParaRPr lang="en-US" sz="900" dirty="0"/>
          </a:p>
        </p:txBody>
      </p:sp>
      <p:sp>
        <p:nvSpPr>
          <p:cNvPr id="3" name="Text 1"/>
          <p:cNvSpPr/>
          <p:nvPr/>
        </p:nvSpPr>
        <p:spPr>
          <a:xfrm>
            <a:off x="457200" y="219456"/>
            <a:ext cx="8229600" cy="420624"/>
          </a:xfrm>
          <a:prstGeom prst="rect">
            <a:avLst/>
          </a:prstGeom>
          <a:noFill/>
          <a:ln/>
        </p:spPr>
        <p:txBody>
          <a:bodyPr wrap="square" lIns="0" tIns="0" rIns="0" bIns="0" rtlCol="0" anchor="ctr"/>
          <a:lstStyle/>
          <a:p>
            <a:pPr marL="0" indent="0">
              <a:buNone/>
            </a:pPr>
            <a:r>
              <a:rPr lang="en-US" sz="2200" b="1" dirty="0">
                <a:solidFill>
                  <a:srgbClr val="212121"/>
                </a:solidFill>
                <a:latin typeface="Cambria" pitchFamily="34" charset="0"/>
                <a:ea typeface="Cambria" pitchFamily="34" charset="-122"/>
                <a:cs typeface="Cambria" pitchFamily="34" charset="-120"/>
              </a:rPr>
              <a:t>Currencies</a:t>
            </a:r>
            <a:endParaRPr lang="en-US" sz="2200" dirty="0"/>
          </a:p>
        </p:txBody>
      </p:sp>
      <p:sp>
        <p:nvSpPr>
          <p:cNvPr id="4" name="Text 2"/>
          <p:cNvSpPr/>
          <p:nvPr/>
        </p:nvSpPr>
        <p:spPr>
          <a:xfrm>
            <a:off x="457200" y="649224"/>
            <a:ext cx="8229600" cy="237744"/>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SWIFT currency tracker, four monthly reports, January – April 2026</a:t>
            </a:r>
            <a:endParaRPr lang="en-US" sz="1100" dirty="0"/>
          </a:p>
        </p:txBody>
      </p:sp>
      <p:pic>
        <p:nvPicPr>
          <p:cNvPr id="5" name="Image 0" descr="/sessions/wizardly-tender-albattani/mnt/outputs/figs/swift.png"/>
          <p:cNvPicPr>
            <a:picLocks noChangeAspect="1"/>
          </p:cNvPicPr>
          <p:nvPr/>
        </p:nvPicPr>
        <p:blipFill>
          <a:blip r:embed="rId3"/>
          <a:stretch>
            <a:fillRect/>
          </a:stretch>
        </p:blipFill>
        <p:spPr>
          <a:xfrm>
            <a:off x="457200" y="969264"/>
            <a:ext cx="8229600" cy="3044952"/>
          </a:xfrm>
          <a:prstGeom prst="rect">
            <a:avLst/>
          </a:prstGeom>
        </p:spPr>
      </p:pic>
      <p:sp>
        <p:nvSpPr>
          <p:cNvPr id="6" name="Shape 3"/>
          <p:cNvSpPr/>
          <p:nvPr/>
        </p:nvSpPr>
        <p:spPr>
          <a:xfrm>
            <a:off x="457200" y="4078224"/>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7" name="Text 4"/>
          <p:cNvSpPr/>
          <p:nvPr/>
        </p:nvSpPr>
        <p:spPr>
          <a:xfrm>
            <a:off x="585216" y="4123944"/>
            <a:ext cx="1664208" cy="310896"/>
          </a:xfrm>
          <a:prstGeom prst="rect">
            <a:avLst/>
          </a:prstGeom>
          <a:noFill/>
          <a:ln/>
        </p:spPr>
        <p:txBody>
          <a:bodyPr wrap="square" lIns="0" tIns="0" rIns="0" bIns="0" rtlCol="0" anchor="ctr"/>
          <a:lstStyle/>
          <a:p>
            <a:pPr marL="0" indent="0">
              <a:buNone/>
            </a:pPr>
            <a:r>
              <a:rPr lang="en-US" sz="1700" b="1" dirty="0">
                <a:solidFill>
                  <a:srgbClr val="2C5F5D"/>
                </a:solidFill>
                <a:latin typeface="Cambria" pitchFamily="34" charset="0"/>
                <a:ea typeface="Cambria" pitchFamily="34" charset="-122"/>
                <a:cs typeface="Cambria" pitchFamily="34" charset="-120"/>
              </a:rPr>
              <a:t>51.14%</a:t>
            </a:r>
            <a:endParaRPr lang="en-US" sz="1700" dirty="0"/>
          </a:p>
        </p:txBody>
      </p:sp>
      <p:sp>
        <p:nvSpPr>
          <p:cNvPr id="8" name="Text 5"/>
          <p:cNvSpPr/>
          <p:nvPr/>
        </p:nvSpPr>
        <p:spPr>
          <a:xfrm>
            <a:off x="58521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US dollar share of global payments</a:t>
            </a:r>
            <a:endParaRPr lang="en-US" sz="850" dirty="0"/>
          </a:p>
        </p:txBody>
      </p:sp>
      <p:sp>
        <p:nvSpPr>
          <p:cNvPr id="9" name="Shape 6"/>
          <p:cNvSpPr/>
          <p:nvPr/>
        </p:nvSpPr>
        <p:spPr>
          <a:xfrm>
            <a:off x="2560320" y="4078224"/>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10" name="Text 7"/>
          <p:cNvSpPr/>
          <p:nvPr/>
        </p:nvSpPr>
        <p:spPr>
          <a:xfrm>
            <a:off x="2688336" y="4123944"/>
            <a:ext cx="1664208" cy="310896"/>
          </a:xfrm>
          <a:prstGeom prst="rect">
            <a:avLst/>
          </a:prstGeom>
          <a:noFill/>
          <a:ln/>
        </p:spPr>
        <p:txBody>
          <a:bodyPr wrap="square" lIns="0" tIns="0" rIns="0" bIns="0" rtlCol="0" anchor="ctr"/>
          <a:lstStyle/>
          <a:p>
            <a:pPr marL="0" indent="0">
              <a:buNone/>
            </a:pPr>
            <a:r>
              <a:rPr lang="en-US" sz="1700" b="1" dirty="0">
                <a:solidFill>
                  <a:srgbClr val="2C5F5D"/>
                </a:solidFill>
                <a:latin typeface="Cambria" pitchFamily="34" charset="0"/>
                <a:ea typeface="Cambria" pitchFamily="34" charset="-122"/>
                <a:cs typeface="Cambria" pitchFamily="34" charset="-120"/>
              </a:rPr>
              <a:t>80.73%</a:t>
            </a:r>
            <a:endParaRPr lang="en-US" sz="1700" dirty="0"/>
          </a:p>
        </p:txBody>
      </p:sp>
      <p:sp>
        <p:nvSpPr>
          <p:cNvPr id="11" name="Text 8"/>
          <p:cNvSpPr/>
          <p:nvPr/>
        </p:nvSpPr>
        <p:spPr>
          <a:xfrm>
            <a:off x="268833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US dollar share of trade finance</a:t>
            </a:r>
            <a:endParaRPr lang="en-US" sz="850" dirty="0"/>
          </a:p>
        </p:txBody>
      </p:sp>
      <p:sp>
        <p:nvSpPr>
          <p:cNvPr id="12" name="Shape 9"/>
          <p:cNvSpPr/>
          <p:nvPr/>
        </p:nvSpPr>
        <p:spPr>
          <a:xfrm>
            <a:off x="4663440" y="4078224"/>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13" name="Text 10"/>
          <p:cNvSpPr/>
          <p:nvPr/>
        </p:nvSpPr>
        <p:spPr>
          <a:xfrm>
            <a:off x="4791456" y="4123944"/>
            <a:ext cx="1664208" cy="310896"/>
          </a:xfrm>
          <a:prstGeom prst="rect">
            <a:avLst/>
          </a:prstGeom>
          <a:noFill/>
          <a:ln/>
        </p:spPr>
        <p:txBody>
          <a:bodyPr wrap="square" lIns="0" tIns="0" rIns="0" bIns="0" rtlCol="0" anchor="ctr"/>
          <a:lstStyle/>
          <a:p>
            <a:pPr marL="0" indent="0">
              <a:buNone/>
            </a:pPr>
            <a:r>
              <a:rPr lang="en-US" sz="1700" b="1" dirty="0">
                <a:solidFill>
                  <a:srgbClr val="B85042"/>
                </a:solidFill>
                <a:latin typeface="Cambria" pitchFamily="34" charset="0"/>
                <a:ea typeface="Cambria" pitchFamily="34" charset="-122"/>
                <a:cs typeface="Cambria" pitchFamily="34" charset="-120"/>
              </a:rPr>
              <a:t>8.04%</a:t>
            </a:r>
            <a:endParaRPr lang="en-US" sz="1700" dirty="0"/>
          </a:p>
        </p:txBody>
      </p:sp>
      <p:sp>
        <p:nvSpPr>
          <p:cNvPr id="14" name="Text 11"/>
          <p:cNvSpPr/>
          <p:nvPr/>
        </p:nvSpPr>
        <p:spPr>
          <a:xfrm>
            <a:off x="479145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renminbi in trade finance — rank 2</a:t>
            </a:r>
            <a:endParaRPr lang="en-US" sz="850" dirty="0"/>
          </a:p>
        </p:txBody>
      </p:sp>
      <p:sp>
        <p:nvSpPr>
          <p:cNvPr id="15" name="Shape 12"/>
          <p:cNvSpPr/>
          <p:nvPr/>
        </p:nvSpPr>
        <p:spPr>
          <a:xfrm>
            <a:off x="6766560" y="4078224"/>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16" name="Text 13"/>
          <p:cNvSpPr/>
          <p:nvPr/>
        </p:nvSpPr>
        <p:spPr>
          <a:xfrm>
            <a:off x="6894576" y="4123944"/>
            <a:ext cx="1664208" cy="310896"/>
          </a:xfrm>
          <a:prstGeom prst="rect">
            <a:avLst/>
          </a:prstGeom>
          <a:noFill/>
          <a:ln/>
        </p:spPr>
        <p:txBody>
          <a:bodyPr wrap="square" lIns="0" tIns="0" rIns="0" bIns="0" rtlCol="0" anchor="ctr"/>
          <a:lstStyle/>
          <a:p>
            <a:pPr marL="0" indent="0">
              <a:buNone/>
            </a:pPr>
            <a:r>
              <a:rPr lang="en-US" sz="1700" b="1" dirty="0">
                <a:solidFill>
                  <a:srgbClr val="B85042"/>
                </a:solidFill>
                <a:latin typeface="Cambria" pitchFamily="34" charset="0"/>
                <a:ea typeface="Cambria" pitchFamily="34" charset="-122"/>
                <a:cs typeface="Cambria" pitchFamily="34" charset="-120"/>
              </a:rPr>
              <a:t>75.23%</a:t>
            </a:r>
            <a:endParaRPr lang="en-US" sz="1700" dirty="0"/>
          </a:p>
        </p:txBody>
      </p:sp>
      <p:sp>
        <p:nvSpPr>
          <p:cNvPr id="17" name="Text 14"/>
          <p:cNvSpPr/>
          <p:nvPr/>
        </p:nvSpPr>
        <p:spPr>
          <a:xfrm>
            <a:off x="6894576" y="4425696"/>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of offshore renminbi clears in Hong Kong</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549640" y="4773168"/>
            <a:ext cx="365760" cy="228600"/>
          </a:xfrm>
          <a:prstGeom prst="rect">
            <a:avLst/>
          </a:prstGeom>
          <a:noFill/>
          <a:ln/>
        </p:spPr>
        <p:txBody>
          <a:bodyPr wrap="square" rtlCol="0" anchor="ctr"/>
          <a:lstStyle/>
          <a:p>
            <a:pPr marL="0" indent="0" algn="r">
              <a:buNone/>
            </a:pPr>
            <a:r>
              <a:rPr lang="en-US" sz="900" dirty="0">
                <a:solidFill>
                  <a:srgbClr val="8C8C8C"/>
                </a:solidFill>
                <a:latin typeface="Calibri" pitchFamily="34" charset="0"/>
                <a:ea typeface="Calibri" pitchFamily="34" charset="-122"/>
                <a:cs typeface="Calibri" pitchFamily="34" charset="-120"/>
              </a:rPr>
              <a:t>9</a:t>
            </a:r>
            <a:endParaRPr lang="en-US" sz="900" dirty="0"/>
          </a:p>
        </p:txBody>
      </p:sp>
      <p:sp>
        <p:nvSpPr>
          <p:cNvPr id="3" name="Text 1"/>
          <p:cNvSpPr/>
          <p:nvPr/>
        </p:nvSpPr>
        <p:spPr>
          <a:xfrm>
            <a:off x="457200" y="219456"/>
            <a:ext cx="8229600" cy="420624"/>
          </a:xfrm>
          <a:prstGeom prst="rect">
            <a:avLst/>
          </a:prstGeom>
          <a:noFill/>
          <a:ln/>
        </p:spPr>
        <p:txBody>
          <a:bodyPr wrap="square" lIns="0" tIns="0" rIns="0" bIns="0" rtlCol="0" anchor="ctr"/>
          <a:lstStyle/>
          <a:p>
            <a:pPr marL="0" indent="0">
              <a:buNone/>
            </a:pPr>
            <a:r>
              <a:rPr lang="en-US" sz="2200" b="1" dirty="0">
                <a:solidFill>
                  <a:srgbClr val="212121"/>
                </a:solidFill>
                <a:latin typeface="Cambria" pitchFamily="34" charset="0"/>
                <a:ea typeface="Cambria" pitchFamily="34" charset="-122"/>
                <a:cs typeface="Cambria" pitchFamily="34" charset="-120"/>
              </a:rPr>
              <a:t>Events</a:t>
            </a:r>
            <a:endParaRPr lang="en-US" sz="2200" dirty="0"/>
          </a:p>
        </p:txBody>
      </p:sp>
      <p:sp>
        <p:nvSpPr>
          <p:cNvPr id="4" name="Text 2"/>
          <p:cNvSpPr/>
          <p:nvPr/>
        </p:nvSpPr>
        <p:spPr>
          <a:xfrm>
            <a:off x="457200" y="649224"/>
            <a:ext cx="8229600" cy="237744"/>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All three indexed to Jan 1970 = 100, log scale. </a:t>
            </a:r>
            <a:endParaRPr lang="en-US" sz="1100" dirty="0"/>
          </a:p>
        </p:txBody>
      </p:sp>
      <p:pic>
        <p:nvPicPr>
          <p:cNvPr id="5" name="Image 0" descr="/sessions/wizardly-tender-albattani/mnt/outputs/figs/events_overlay.png"/>
          <p:cNvPicPr>
            <a:picLocks noChangeAspect="1"/>
          </p:cNvPicPr>
          <p:nvPr/>
        </p:nvPicPr>
        <p:blipFill>
          <a:blip r:embed="rId3"/>
          <a:stretch>
            <a:fillRect/>
          </a:stretch>
        </p:blipFill>
        <p:spPr>
          <a:xfrm>
            <a:off x="457200" y="1024128"/>
            <a:ext cx="8229600" cy="3044952"/>
          </a:xfrm>
          <a:prstGeom prst="rect">
            <a:avLst/>
          </a:prstGeom>
        </p:spPr>
      </p:pic>
      <p:sp>
        <p:nvSpPr>
          <p:cNvPr id="6" name="Shape 3"/>
          <p:cNvSpPr/>
          <p:nvPr/>
        </p:nvSpPr>
        <p:spPr>
          <a:xfrm>
            <a:off x="457200" y="4114800"/>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7" name="Text 4"/>
          <p:cNvSpPr/>
          <p:nvPr/>
        </p:nvSpPr>
        <p:spPr>
          <a:xfrm>
            <a:off x="585216" y="4160520"/>
            <a:ext cx="1664208" cy="310896"/>
          </a:xfrm>
          <a:prstGeom prst="rect">
            <a:avLst/>
          </a:prstGeom>
          <a:noFill/>
          <a:ln/>
        </p:spPr>
        <p:txBody>
          <a:bodyPr wrap="square" lIns="0" tIns="0" rIns="0" bIns="0" rtlCol="0" anchor="ctr"/>
          <a:lstStyle/>
          <a:p>
            <a:pPr marL="0" indent="0">
              <a:buNone/>
            </a:pPr>
            <a:r>
              <a:rPr lang="en-US" sz="1700" b="1" dirty="0">
                <a:solidFill>
                  <a:srgbClr val="B85042"/>
                </a:solidFill>
                <a:latin typeface="Cambria" pitchFamily="34" charset="0"/>
                <a:ea typeface="Cambria" pitchFamily="34" charset="-122"/>
                <a:cs typeface="Cambria" pitchFamily="34" charset="-120"/>
              </a:rPr>
              <a:t>1973 &amp; 1979</a:t>
            </a:r>
            <a:endParaRPr lang="en-US" sz="1700" dirty="0"/>
          </a:p>
        </p:txBody>
      </p:sp>
      <p:sp>
        <p:nvSpPr>
          <p:cNvPr id="8" name="Text 5"/>
          <p:cNvSpPr/>
          <p:nvPr/>
        </p:nvSpPr>
        <p:spPr>
          <a:xfrm>
            <a:off x="585216" y="4462272"/>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supply shocks: oil leads, metals follow with a lag</a:t>
            </a:r>
            <a:endParaRPr lang="en-US" sz="850" dirty="0"/>
          </a:p>
        </p:txBody>
      </p:sp>
      <p:sp>
        <p:nvSpPr>
          <p:cNvPr id="9" name="Shape 6"/>
          <p:cNvSpPr/>
          <p:nvPr/>
        </p:nvSpPr>
        <p:spPr>
          <a:xfrm>
            <a:off x="2560320" y="4114800"/>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10" name="Text 7"/>
          <p:cNvSpPr/>
          <p:nvPr/>
        </p:nvSpPr>
        <p:spPr>
          <a:xfrm>
            <a:off x="2688336" y="4160520"/>
            <a:ext cx="1664208" cy="310896"/>
          </a:xfrm>
          <a:prstGeom prst="rect">
            <a:avLst/>
          </a:prstGeom>
          <a:noFill/>
          <a:ln/>
        </p:spPr>
        <p:txBody>
          <a:bodyPr wrap="square" lIns="0" tIns="0" rIns="0" bIns="0" rtlCol="0" anchor="ctr"/>
          <a:lstStyle/>
          <a:p>
            <a:pPr marL="0" indent="0">
              <a:buNone/>
            </a:pPr>
            <a:r>
              <a:rPr lang="en-US" sz="1700" b="1" dirty="0">
                <a:solidFill>
                  <a:srgbClr val="B85042"/>
                </a:solidFill>
                <a:latin typeface="Cambria" pitchFamily="34" charset="0"/>
                <a:ea typeface="Cambria" pitchFamily="34" charset="-122"/>
                <a:cs typeface="Cambria" pitchFamily="34" charset="-120"/>
              </a:rPr>
              <a:t>2008 &amp; 2020</a:t>
            </a:r>
            <a:endParaRPr lang="en-US" sz="1700" dirty="0"/>
          </a:p>
        </p:txBody>
      </p:sp>
      <p:sp>
        <p:nvSpPr>
          <p:cNvPr id="11" name="Text 8"/>
          <p:cNvSpPr/>
          <p:nvPr/>
        </p:nvSpPr>
        <p:spPr>
          <a:xfrm>
            <a:off x="2688336" y="4462272"/>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financial and demand shocks: metals lead, oil breaks</a:t>
            </a:r>
            <a:endParaRPr lang="en-US" sz="850" dirty="0"/>
          </a:p>
        </p:txBody>
      </p:sp>
      <p:sp>
        <p:nvSpPr>
          <p:cNvPr id="12" name="Shape 9"/>
          <p:cNvSpPr/>
          <p:nvPr/>
        </p:nvSpPr>
        <p:spPr>
          <a:xfrm>
            <a:off x="4663440" y="4114800"/>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13" name="Text 10"/>
          <p:cNvSpPr/>
          <p:nvPr/>
        </p:nvSpPr>
        <p:spPr>
          <a:xfrm>
            <a:off x="4791456" y="4160520"/>
            <a:ext cx="1664208" cy="310896"/>
          </a:xfrm>
          <a:prstGeom prst="rect">
            <a:avLst/>
          </a:prstGeom>
          <a:noFill/>
          <a:ln/>
        </p:spPr>
        <p:txBody>
          <a:bodyPr wrap="square" lIns="0" tIns="0" rIns="0" bIns="0" rtlCol="0" anchor="ctr"/>
          <a:lstStyle/>
          <a:p>
            <a:pPr marL="0" indent="0">
              <a:buNone/>
            </a:pPr>
            <a:r>
              <a:rPr lang="en-US" sz="1700" b="1" dirty="0">
                <a:solidFill>
                  <a:srgbClr val="B85042"/>
                </a:solidFill>
                <a:latin typeface="Cambria" pitchFamily="34" charset="0"/>
                <a:ea typeface="Cambria" pitchFamily="34" charset="-122"/>
                <a:cs typeface="Cambria" pitchFamily="34" charset="-120"/>
              </a:rPr>
              <a:t>2022</a:t>
            </a:r>
            <a:endParaRPr lang="en-US" sz="1700" dirty="0"/>
          </a:p>
        </p:txBody>
      </p:sp>
      <p:sp>
        <p:nvSpPr>
          <p:cNvPr id="14" name="Text 11"/>
          <p:cNvSpPr/>
          <p:nvPr/>
        </p:nvSpPr>
        <p:spPr>
          <a:xfrm>
            <a:off x="4791456" y="4462272"/>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sanctions: oil and gold diverge for the first time</a:t>
            </a:r>
            <a:endParaRPr lang="en-US" sz="850" dirty="0"/>
          </a:p>
        </p:txBody>
      </p:sp>
      <p:sp>
        <p:nvSpPr>
          <p:cNvPr id="15" name="Shape 12"/>
          <p:cNvSpPr/>
          <p:nvPr/>
        </p:nvSpPr>
        <p:spPr>
          <a:xfrm>
            <a:off x="6766560" y="4114800"/>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16" name="Text 13"/>
          <p:cNvSpPr/>
          <p:nvPr/>
        </p:nvSpPr>
        <p:spPr>
          <a:xfrm>
            <a:off x="6894576" y="4160520"/>
            <a:ext cx="1664208" cy="310896"/>
          </a:xfrm>
          <a:prstGeom prst="rect">
            <a:avLst/>
          </a:prstGeom>
          <a:noFill/>
          <a:ln/>
        </p:spPr>
        <p:txBody>
          <a:bodyPr wrap="square" lIns="0" tIns="0" rIns="0" bIns="0" rtlCol="0" anchor="ctr"/>
          <a:lstStyle/>
          <a:p>
            <a:pPr marL="0" indent="0">
              <a:buNone/>
            </a:pPr>
            <a:r>
              <a:rPr lang="en-US" sz="1700" b="1" dirty="0">
                <a:solidFill>
                  <a:srgbClr val="B85042"/>
                </a:solidFill>
                <a:latin typeface="Cambria" pitchFamily="34" charset="0"/>
                <a:ea typeface="Cambria" pitchFamily="34" charset="-122"/>
                <a:cs typeface="Cambria" pitchFamily="34" charset="-120"/>
              </a:rPr>
              <a:t>2026</a:t>
            </a:r>
            <a:endParaRPr lang="en-US" sz="1700" dirty="0"/>
          </a:p>
        </p:txBody>
      </p:sp>
      <p:sp>
        <p:nvSpPr>
          <p:cNvPr id="17" name="Text 14"/>
          <p:cNvSpPr/>
          <p:nvPr/>
        </p:nvSpPr>
        <p:spPr>
          <a:xfrm>
            <a:off x="6894576" y="4462272"/>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Hormuz: all three rise together, which is rare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549640" y="4773168"/>
            <a:ext cx="365760" cy="228600"/>
          </a:xfrm>
          <a:prstGeom prst="rect">
            <a:avLst/>
          </a:prstGeom>
          <a:noFill/>
          <a:ln/>
        </p:spPr>
        <p:txBody>
          <a:bodyPr wrap="square" rtlCol="0" anchor="ctr"/>
          <a:lstStyle/>
          <a:p>
            <a:pPr marL="0" indent="0" algn="r">
              <a:buNone/>
            </a:pPr>
            <a:r>
              <a:rPr lang="en-US" sz="900" dirty="0">
                <a:solidFill>
                  <a:srgbClr val="8C8C8C"/>
                </a:solidFill>
                <a:latin typeface="Calibri" pitchFamily="34" charset="0"/>
                <a:ea typeface="Calibri" pitchFamily="34" charset="-122"/>
                <a:cs typeface="Calibri" pitchFamily="34" charset="-120"/>
              </a:rPr>
              <a:t>10</a:t>
            </a:r>
            <a:endParaRPr lang="en-US" sz="900" dirty="0"/>
          </a:p>
        </p:txBody>
      </p:sp>
      <p:sp>
        <p:nvSpPr>
          <p:cNvPr id="3" name="Text 1"/>
          <p:cNvSpPr/>
          <p:nvPr/>
        </p:nvSpPr>
        <p:spPr>
          <a:xfrm>
            <a:off x="457200" y="219456"/>
            <a:ext cx="8229600" cy="420624"/>
          </a:xfrm>
          <a:prstGeom prst="rect">
            <a:avLst/>
          </a:prstGeom>
          <a:noFill/>
          <a:ln/>
        </p:spPr>
        <p:txBody>
          <a:bodyPr wrap="square" lIns="0" tIns="0" rIns="0" bIns="0" rtlCol="0" anchor="ctr"/>
          <a:lstStyle/>
          <a:p>
            <a:pPr marL="0" indent="0">
              <a:buNone/>
            </a:pPr>
            <a:r>
              <a:rPr lang="en-US" sz="2200" b="1" dirty="0">
                <a:solidFill>
                  <a:srgbClr val="212121"/>
                </a:solidFill>
                <a:latin typeface="Cambria" pitchFamily="34" charset="0"/>
                <a:ea typeface="Cambria" pitchFamily="34" charset="-122"/>
                <a:cs typeface="Cambria" pitchFamily="34" charset="-120"/>
              </a:rPr>
              <a:t>Event impact</a:t>
            </a:r>
            <a:endParaRPr lang="en-US" sz="2200" dirty="0"/>
          </a:p>
        </p:txBody>
      </p:sp>
      <p:sp>
        <p:nvSpPr>
          <p:cNvPr id="4" name="Text 2"/>
          <p:cNvSpPr/>
          <p:nvPr/>
        </p:nvSpPr>
        <p:spPr>
          <a:xfrm>
            <a:off x="457200" y="649224"/>
            <a:ext cx="8229600" cy="237744"/>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Change in annual average unless stated</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78992"/>
          <a:ext cx="8229600" cy="3142488"/>
        </p:xfrm>
        <a:graphic>
          <a:graphicData uri="http://schemas.openxmlformats.org/drawingml/2006/table">
            <a:tbl>
              <a:tblPr/>
              <a:tblGrid>
                <a:gridCol w="187452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298448">
                  <a:extLst>
                    <a:ext uri="{9D8B030D-6E8A-4147-A177-3AD203B41FA5}">
                      <a16:colId xmlns:a16="http://schemas.microsoft.com/office/drawing/2014/main" val="20002"/>
                    </a:ext>
                  </a:extLst>
                </a:gridCol>
                <a:gridCol w="1133856">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859536">
                  <a:extLst>
                    <a:ext uri="{9D8B030D-6E8A-4147-A177-3AD203B41FA5}">
                      <a16:colId xmlns:a16="http://schemas.microsoft.com/office/drawing/2014/main" val="20005"/>
                    </a:ext>
                  </a:extLst>
                </a:gridCol>
              </a:tblGrid>
              <a:tr h="288036">
                <a:tc>
                  <a:txBody>
                    <a:bodyPr/>
                    <a:lstStyle/>
                    <a:p>
                      <a:pPr marL="0" indent="0">
                        <a:buNone/>
                      </a:pPr>
                      <a:r>
                        <a:rPr lang="en-US" sz="860" b="1" dirty="0">
                          <a:solidFill>
                            <a:srgbClr val="212121"/>
                          </a:solidFill>
                          <a:latin typeface="Calibri" pitchFamily="34" charset="0"/>
                          <a:ea typeface="Calibri" pitchFamily="34" charset="-122"/>
                          <a:cs typeface="Calibri" pitchFamily="34" charset="-120"/>
                        </a:rPr>
                        <a:t>Event</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b="1" dirty="0">
                          <a:solidFill>
                            <a:srgbClr val="212121"/>
                          </a:solidFill>
                          <a:latin typeface="Calibri" pitchFamily="34" charset="0"/>
                          <a:ea typeface="Calibri" pitchFamily="34" charset="-122"/>
                          <a:cs typeface="Calibri" pitchFamily="34" charset="-120"/>
                        </a:rPr>
                        <a:t>Mechanism</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b="1" dirty="0">
                          <a:solidFill>
                            <a:srgbClr val="212121"/>
                          </a:solidFill>
                          <a:latin typeface="Calibri" pitchFamily="34" charset="0"/>
                          <a:ea typeface="Calibri" pitchFamily="34" charset="-122"/>
                          <a:cs typeface="Calibri" pitchFamily="34" charset="-120"/>
                        </a:rPr>
                        <a:t>Oil</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b="1" dirty="0">
                          <a:solidFill>
                            <a:srgbClr val="212121"/>
                          </a:solidFill>
                          <a:latin typeface="Calibri" pitchFamily="34" charset="0"/>
                          <a:ea typeface="Calibri" pitchFamily="34" charset="-122"/>
                          <a:cs typeface="Calibri" pitchFamily="34" charset="-120"/>
                        </a:rPr>
                        <a:t>Gold</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b="1" dirty="0">
                          <a:solidFill>
                            <a:srgbClr val="212121"/>
                          </a:solidFill>
                          <a:latin typeface="Calibri" pitchFamily="34" charset="0"/>
                          <a:ea typeface="Calibri" pitchFamily="34" charset="-122"/>
                          <a:cs typeface="Calibri" pitchFamily="34" charset="-120"/>
                        </a:rPr>
                        <a:t>Silver</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b="1" dirty="0">
                          <a:solidFill>
                            <a:srgbClr val="212121"/>
                          </a:solidFill>
                          <a:latin typeface="Calibri" pitchFamily="34" charset="0"/>
                          <a:ea typeface="Calibri" pitchFamily="34" charset="-122"/>
                          <a:cs typeface="Calibri" pitchFamily="34" charset="-120"/>
                        </a:rPr>
                        <a:t>Currency</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288036">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1973–74  OPEC embargo</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Physical supply cut</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+141.5%</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Surge begins</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Follows gold</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USD weakens</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8036">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1979–81  Iran revolution</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Supply cut + inflation</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Peak of the era</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+89.3% (1979)</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Hunt squeeze, then −62%</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Volcker shock</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88036">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1986  OPEC price war</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Deliberate oversupply</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−49.3%</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Flat</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Flat</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Limited</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88036">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1990–91  Gulf War</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Supply fear, short-lived</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Spike, then reversal</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Slight rise</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Slight rise</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USD inflows</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88036">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2008–09  Financial crisis</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Credit + demand collapse</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+26.7% then −35%</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+24.9%</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+10.8%</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USD safe haven</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88036">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2014–16  US shale</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Structural oversupply</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−46%</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Flat</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−40%</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USD strengthens</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88036">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2020  Covid-19</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Demand collapse</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−33.6%</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+27.0%</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+27.1%</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Global rate cuts</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88036">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2022  Ukraine + sanctions</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Supply shock + reserve freeze</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+28.2%</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+0.3%</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−13.2%</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CNY share rises</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88036">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2026  Hormuz closure</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Chokepoint closure</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+52% in one month</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+40.6% YTD</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+131.5% YTD</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tc>
                  <a:txBody>
                    <a:bodyPr/>
                    <a:lstStyle/>
                    <a:p>
                      <a:pPr marL="0" indent="0">
                        <a:buNone/>
                      </a:pPr>
                      <a:r>
                        <a:rPr lang="en-US" sz="860" dirty="0">
                          <a:solidFill>
                            <a:srgbClr val="212121"/>
                          </a:solidFill>
                          <a:latin typeface="Calibri" pitchFamily="34" charset="0"/>
                          <a:ea typeface="Calibri" pitchFamily="34" charset="-122"/>
                          <a:cs typeface="Calibri" pitchFamily="34" charset="-120"/>
                        </a:rPr>
                        <a:t>CNY rank 5</a:t>
                      </a:r>
                      <a:endParaRPr lang="en-US" sz="860" dirty="0">
                        <a:latin typeface="Calibri" charset="0"/>
                        <a:ea typeface="Calibri" charset="0"/>
                        <a:cs typeface="Calibri" charset="0"/>
                      </a:endParaRPr>
                    </a:p>
                  </a:txBody>
                  <a:tcPr anchor="ctr">
                    <a:lnL w="6350" cap="flat" cmpd="sng" algn="ctr">
                      <a:solidFill>
                        <a:srgbClr val="E4E4E1"/>
                      </a:solidFill>
                      <a:prstDash val="solid"/>
                      <a:round/>
                      <a:headEnd type="none" w="med" len="med"/>
                      <a:tailEnd type="none" w="med" len="med"/>
                    </a:lnL>
                    <a:lnR w="6350" cap="flat" cmpd="sng" algn="ctr">
                      <a:solidFill>
                        <a:srgbClr val="E4E4E1"/>
                      </a:solidFill>
                      <a:prstDash val="solid"/>
                      <a:round/>
                      <a:headEnd type="none" w="med" len="med"/>
                      <a:tailEnd type="none" w="med" len="med"/>
                    </a:lnR>
                    <a:lnT w="6350" cap="flat" cmpd="sng" algn="ctr">
                      <a:solidFill>
                        <a:srgbClr val="E4E4E1"/>
                      </a:solidFill>
                      <a:prstDash val="solid"/>
                      <a:round/>
                      <a:headEnd type="none" w="med" len="med"/>
                      <a:tailEnd type="none" w="med" len="med"/>
                    </a:lnT>
                    <a:lnB w="6350" cap="flat" cmpd="sng" algn="ctr">
                      <a:solidFill>
                        <a:srgbClr val="E4E4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Text 3"/>
          <p:cNvSpPr/>
          <p:nvPr/>
        </p:nvSpPr>
        <p:spPr>
          <a:xfrm>
            <a:off x="457200" y="4261104"/>
            <a:ext cx="8229600" cy="457200"/>
          </a:xfrm>
          <a:prstGeom prst="rect">
            <a:avLst/>
          </a:prstGeom>
          <a:noFill/>
          <a:ln/>
        </p:spPr>
        <p:txBody>
          <a:bodyPr wrap="square" lIns="0" tIns="0" rIns="0" bIns="0" rtlCol="0" anchor="t"/>
          <a:lstStyle/>
          <a:p>
            <a:pPr marL="0" indent="0">
              <a:lnSpc>
                <a:spcPts val="1400"/>
              </a:lnSpc>
              <a:buNone/>
            </a:pPr>
            <a:r>
              <a:rPr lang="en-US" sz="1050" i="1" dirty="0">
                <a:solidFill>
                  <a:srgbClr val="212121"/>
                </a:solidFill>
                <a:latin typeface="Calibri" pitchFamily="34" charset="0"/>
                <a:ea typeface="Calibri" pitchFamily="34" charset="-122"/>
                <a:cs typeface="Calibri" pitchFamily="34" charset="-120"/>
              </a:rPr>
              <a:t>Every large oil move is a supply event except 2008 and 2020, which are demand events. Those two are also the only years where oil and the metals move in opposite directions.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549640" y="4773168"/>
            <a:ext cx="365760" cy="228600"/>
          </a:xfrm>
          <a:prstGeom prst="rect">
            <a:avLst/>
          </a:prstGeom>
          <a:noFill/>
          <a:ln/>
        </p:spPr>
        <p:txBody>
          <a:bodyPr wrap="square" rtlCol="0" anchor="ctr"/>
          <a:lstStyle/>
          <a:p>
            <a:pPr marL="0" indent="0" algn="r">
              <a:buNone/>
            </a:pPr>
            <a:r>
              <a:rPr lang="en-US" sz="900" dirty="0">
                <a:solidFill>
                  <a:srgbClr val="8C8C8C"/>
                </a:solidFill>
                <a:latin typeface="Calibri" pitchFamily="34" charset="0"/>
                <a:ea typeface="Calibri" pitchFamily="34" charset="-122"/>
                <a:cs typeface="Calibri" pitchFamily="34" charset="-120"/>
              </a:rPr>
              <a:t>11</a:t>
            </a:r>
            <a:endParaRPr lang="en-US" sz="900" dirty="0"/>
          </a:p>
        </p:txBody>
      </p:sp>
      <p:sp>
        <p:nvSpPr>
          <p:cNvPr id="3" name="Text 1"/>
          <p:cNvSpPr/>
          <p:nvPr/>
        </p:nvSpPr>
        <p:spPr>
          <a:xfrm>
            <a:off x="457200" y="219456"/>
            <a:ext cx="8229600" cy="420624"/>
          </a:xfrm>
          <a:prstGeom prst="rect">
            <a:avLst/>
          </a:prstGeom>
          <a:noFill/>
          <a:ln/>
        </p:spPr>
        <p:txBody>
          <a:bodyPr wrap="square" lIns="0" tIns="0" rIns="0" bIns="0" rtlCol="0" anchor="ctr"/>
          <a:lstStyle/>
          <a:p>
            <a:pPr marL="0" indent="0">
              <a:buNone/>
            </a:pPr>
            <a:r>
              <a:rPr lang="en-US" sz="2200" b="1" dirty="0">
                <a:solidFill>
                  <a:srgbClr val="212121"/>
                </a:solidFill>
                <a:latin typeface="Cambria" pitchFamily="34" charset="0"/>
                <a:ea typeface="Cambria" pitchFamily="34" charset="-122"/>
                <a:cs typeface="Cambria" pitchFamily="34" charset="-120"/>
              </a:rPr>
              <a:t>Correlation</a:t>
            </a:r>
            <a:endParaRPr lang="en-US" sz="2200" dirty="0"/>
          </a:p>
        </p:txBody>
      </p:sp>
      <p:sp>
        <p:nvSpPr>
          <p:cNvPr id="4" name="Text 2"/>
          <p:cNvSpPr/>
          <p:nvPr/>
        </p:nvSpPr>
        <p:spPr>
          <a:xfrm>
            <a:off x="457200" y="649224"/>
            <a:ext cx="8229600" cy="237744"/>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Same three series, two ways of measuring it</a:t>
            </a:r>
            <a:endParaRPr lang="en-US" sz="1100" dirty="0"/>
          </a:p>
        </p:txBody>
      </p:sp>
      <p:pic>
        <p:nvPicPr>
          <p:cNvPr id="5" name="Image 0" descr="/sessions/wizardly-tender-albattani/mnt/outputs/figs/corr_pair.png"/>
          <p:cNvPicPr>
            <a:picLocks noChangeAspect="1"/>
          </p:cNvPicPr>
          <p:nvPr/>
        </p:nvPicPr>
        <p:blipFill>
          <a:blip r:embed="rId3"/>
          <a:stretch>
            <a:fillRect/>
          </a:stretch>
        </p:blipFill>
        <p:spPr>
          <a:xfrm>
            <a:off x="502920" y="969264"/>
            <a:ext cx="8138160" cy="3090672"/>
          </a:xfrm>
          <a:prstGeom prst="rect">
            <a:avLst/>
          </a:prstGeom>
        </p:spPr>
      </p:pic>
      <p:sp>
        <p:nvSpPr>
          <p:cNvPr id="6" name="Text 3"/>
          <p:cNvSpPr/>
          <p:nvPr/>
        </p:nvSpPr>
        <p:spPr>
          <a:xfrm>
            <a:off x="457200" y="4133088"/>
            <a:ext cx="8229600" cy="566928"/>
          </a:xfrm>
          <a:prstGeom prst="rect">
            <a:avLst/>
          </a:prstGeom>
          <a:noFill/>
          <a:ln/>
        </p:spPr>
        <p:txBody>
          <a:bodyPr wrap="square" lIns="0" tIns="0" rIns="0" bIns="0" rtlCol="0" anchor="t"/>
          <a:lstStyle/>
          <a:p>
            <a:pPr marL="0" indent="0">
              <a:lnSpc>
                <a:spcPts val="1300"/>
              </a:lnSpc>
              <a:buNone/>
            </a:pP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549640" y="4773168"/>
            <a:ext cx="365760" cy="228600"/>
          </a:xfrm>
          <a:prstGeom prst="rect">
            <a:avLst/>
          </a:prstGeom>
          <a:noFill/>
          <a:ln/>
        </p:spPr>
        <p:txBody>
          <a:bodyPr wrap="square" rtlCol="0" anchor="ctr"/>
          <a:lstStyle/>
          <a:p>
            <a:pPr marL="0" indent="0" algn="r">
              <a:buNone/>
            </a:pPr>
            <a:r>
              <a:rPr lang="en-US" sz="900" dirty="0">
                <a:solidFill>
                  <a:srgbClr val="8C8C8C"/>
                </a:solidFill>
                <a:latin typeface="Calibri" pitchFamily="34" charset="0"/>
                <a:ea typeface="Calibri" pitchFamily="34" charset="-122"/>
                <a:cs typeface="Calibri" pitchFamily="34" charset="-120"/>
              </a:rPr>
              <a:t>12</a:t>
            </a:r>
            <a:endParaRPr lang="en-US" sz="900" dirty="0"/>
          </a:p>
        </p:txBody>
      </p:sp>
      <p:sp>
        <p:nvSpPr>
          <p:cNvPr id="3" name="Text 1"/>
          <p:cNvSpPr/>
          <p:nvPr/>
        </p:nvSpPr>
        <p:spPr>
          <a:xfrm>
            <a:off x="457200" y="219456"/>
            <a:ext cx="8229600" cy="420624"/>
          </a:xfrm>
          <a:prstGeom prst="rect">
            <a:avLst/>
          </a:prstGeom>
          <a:noFill/>
          <a:ln/>
        </p:spPr>
        <p:txBody>
          <a:bodyPr wrap="square" lIns="0" tIns="0" rIns="0" bIns="0" rtlCol="0" anchor="ctr"/>
          <a:lstStyle/>
          <a:p>
            <a:pPr marL="0" indent="0">
              <a:buNone/>
            </a:pPr>
            <a:r>
              <a:rPr lang="en-US" sz="2200" b="1" dirty="0">
                <a:solidFill>
                  <a:srgbClr val="212121"/>
                </a:solidFill>
                <a:latin typeface="Cambria" pitchFamily="34" charset="0"/>
                <a:ea typeface="Cambria" pitchFamily="34" charset="-122"/>
                <a:cs typeface="Cambria" pitchFamily="34" charset="-120"/>
              </a:rPr>
              <a:t>Rolling correlation</a:t>
            </a:r>
            <a:endParaRPr lang="en-US" sz="2200" dirty="0"/>
          </a:p>
        </p:txBody>
      </p:sp>
      <p:sp>
        <p:nvSpPr>
          <p:cNvPr id="4" name="Text 2"/>
          <p:cNvSpPr/>
          <p:nvPr/>
        </p:nvSpPr>
        <p:spPr>
          <a:xfrm>
            <a:off x="457200" y="649224"/>
            <a:ext cx="8229600" cy="237744"/>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60-month rolling correlation of monthly returns</a:t>
            </a:r>
            <a:endParaRPr lang="en-US" sz="1100" dirty="0"/>
          </a:p>
        </p:txBody>
      </p:sp>
      <p:pic>
        <p:nvPicPr>
          <p:cNvPr id="5" name="Image 0" descr="/sessions/wizardly-tender-albattani/mnt/outputs/figs/rolling_corr.png"/>
          <p:cNvPicPr>
            <a:picLocks noChangeAspect="1"/>
          </p:cNvPicPr>
          <p:nvPr/>
        </p:nvPicPr>
        <p:blipFill>
          <a:blip r:embed="rId3"/>
          <a:stretch>
            <a:fillRect/>
          </a:stretch>
        </p:blipFill>
        <p:spPr>
          <a:xfrm>
            <a:off x="457200" y="1024128"/>
            <a:ext cx="8229600" cy="2862072"/>
          </a:xfrm>
          <a:prstGeom prst="rect">
            <a:avLst/>
          </a:prstGeom>
        </p:spPr>
      </p:pic>
      <p:sp>
        <p:nvSpPr>
          <p:cNvPr id="6" name="Shape 3"/>
          <p:cNvSpPr/>
          <p:nvPr/>
        </p:nvSpPr>
        <p:spPr>
          <a:xfrm>
            <a:off x="457200" y="3968496"/>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7" name="Text 4"/>
          <p:cNvSpPr/>
          <p:nvPr/>
        </p:nvSpPr>
        <p:spPr>
          <a:xfrm>
            <a:off x="585216" y="4014216"/>
            <a:ext cx="1664208" cy="310896"/>
          </a:xfrm>
          <a:prstGeom prst="rect">
            <a:avLst/>
          </a:prstGeom>
          <a:noFill/>
          <a:ln/>
        </p:spPr>
        <p:txBody>
          <a:bodyPr wrap="square" lIns="0" tIns="0" rIns="0" bIns="0" rtlCol="0" anchor="ctr"/>
          <a:lstStyle/>
          <a:p>
            <a:pPr marL="0" indent="0">
              <a:buNone/>
            </a:pPr>
            <a:r>
              <a:rPr lang="en-US" sz="1700" b="1" dirty="0">
                <a:solidFill>
                  <a:srgbClr val="B8860B"/>
                </a:solidFill>
                <a:latin typeface="Cambria" pitchFamily="34" charset="0"/>
                <a:ea typeface="Cambria" pitchFamily="34" charset="-122"/>
                <a:cs typeface="Cambria" pitchFamily="34" charset="-120"/>
              </a:rPr>
              <a:t>0.62</a:t>
            </a:r>
            <a:endParaRPr lang="en-US" sz="1700" dirty="0"/>
          </a:p>
        </p:txBody>
      </p:sp>
      <p:sp>
        <p:nvSpPr>
          <p:cNvPr id="8" name="Text 5"/>
          <p:cNvSpPr/>
          <p:nvPr/>
        </p:nvSpPr>
        <p:spPr>
          <a:xfrm>
            <a:off x="585216" y="4315968"/>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gold–silver today: strong, and it has been positive since 1972</a:t>
            </a:r>
            <a:endParaRPr lang="en-US" sz="850" dirty="0"/>
          </a:p>
        </p:txBody>
      </p:sp>
      <p:sp>
        <p:nvSpPr>
          <p:cNvPr id="9" name="Shape 6"/>
          <p:cNvSpPr/>
          <p:nvPr/>
        </p:nvSpPr>
        <p:spPr>
          <a:xfrm>
            <a:off x="2560320" y="3968496"/>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10" name="Text 7"/>
          <p:cNvSpPr/>
          <p:nvPr/>
        </p:nvSpPr>
        <p:spPr>
          <a:xfrm>
            <a:off x="2688336" y="4014216"/>
            <a:ext cx="1664208" cy="310896"/>
          </a:xfrm>
          <a:prstGeom prst="rect">
            <a:avLst/>
          </a:prstGeom>
          <a:noFill/>
          <a:ln/>
        </p:spPr>
        <p:txBody>
          <a:bodyPr wrap="square" lIns="0" tIns="0" rIns="0" bIns="0" rtlCol="0" anchor="ctr"/>
          <a:lstStyle/>
          <a:p>
            <a:pPr marL="0" indent="0">
              <a:buNone/>
            </a:pPr>
            <a:r>
              <a:rPr lang="en-US" sz="1700" b="1" dirty="0">
                <a:solidFill>
                  <a:srgbClr val="2F4858"/>
                </a:solidFill>
                <a:latin typeface="Cambria" pitchFamily="34" charset="0"/>
                <a:ea typeface="Cambria" pitchFamily="34" charset="-122"/>
                <a:cs typeface="Cambria" pitchFamily="34" charset="-120"/>
              </a:rPr>
              <a:t>−0.29</a:t>
            </a:r>
            <a:endParaRPr lang="en-US" sz="1700" dirty="0"/>
          </a:p>
        </p:txBody>
      </p:sp>
      <p:sp>
        <p:nvSpPr>
          <p:cNvPr id="11" name="Text 8"/>
          <p:cNvSpPr/>
          <p:nvPr/>
        </p:nvSpPr>
        <p:spPr>
          <a:xfrm>
            <a:off x="2688336" y="4315968"/>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gold–oil today: they now move in opposite directions</a:t>
            </a:r>
            <a:endParaRPr lang="en-US" sz="850" dirty="0"/>
          </a:p>
        </p:txBody>
      </p:sp>
      <p:sp>
        <p:nvSpPr>
          <p:cNvPr id="12" name="Shape 9"/>
          <p:cNvSpPr/>
          <p:nvPr/>
        </p:nvSpPr>
        <p:spPr>
          <a:xfrm>
            <a:off x="4663440" y="3968496"/>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13" name="Text 10"/>
          <p:cNvSpPr/>
          <p:nvPr/>
        </p:nvSpPr>
        <p:spPr>
          <a:xfrm>
            <a:off x="4791456" y="4014216"/>
            <a:ext cx="1664208" cy="310896"/>
          </a:xfrm>
          <a:prstGeom prst="rect">
            <a:avLst/>
          </a:prstGeom>
          <a:noFill/>
          <a:ln/>
        </p:spPr>
        <p:txBody>
          <a:bodyPr wrap="square" lIns="0" tIns="0" rIns="0" bIns="0" rtlCol="0" anchor="ctr"/>
          <a:lstStyle/>
          <a:p>
            <a:pPr marL="0" indent="0">
              <a:buNone/>
            </a:pPr>
            <a:r>
              <a:rPr lang="en-US" sz="1700" b="1" dirty="0">
                <a:solidFill>
                  <a:srgbClr val="B8860B"/>
                </a:solidFill>
                <a:latin typeface="Cambria" pitchFamily="34" charset="0"/>
                <a:ea typeface="Cambria" pitchFamily="34" charset="-122"/>
                <a:cs typeface="Cambria" pitchFamily="34" charset="-120"/>
              </a:rPr>
              <a:t>0.87</a:t>
            </a:r>
            <a:endParaRPr lang="en-US" sz="1700" dirty="0"/>
          </a:p>
        </p:txBody>
      </p:sp>
      <p:sp>
        <p:nvSpPr>
          <p:cNvPr id="14" name="Text 11"/>
          <p:cNvSpPr/>
          <p:nvPr/>
        </p:nvSpPr>
        <p:spPr>
          <a:xfrm>
            <a:off x="4791456" y="4315968"/>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the gold–silver peak, reached in 2016</a:t>
            </a:r>
            <a:endParaRPr lang="en-US" sz="850" dirty="0"/>
          </a:p>
        </p:txBody>
      </p:sp>
      <p:sp>
        <p:nvSpPr>
          <p:cNvPr id="15" name="Shape 12"/>
          <p:cNvSpPr/>
          <p:nvPr/>
        </p:nvSpPr>
        <p:spPr>
          <a:xfrm>
            <a:off x="6766560" y="3968496"/>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16" name="Text 13"/>
          <p:cNvSpPr/>
          <p:nvPr/>
        </p:nvSpPr>
        <p:spPr>
          <a:xfrm>
            <a:off x="6894576" y="4014216"/>
            <a:ext cx="1664208" cy="310896"/>
          </a:xfrm>
          <a:prstGeom prst="rect">
            <a:avLst/>
          </a:prstGeom>
          <a:noFill/>
          <a:ln/>
        </p:spPr>
        <p:txBody>
          <a:bodyPr wrap="square" lIns="0" tIns="0" rIns="0" bIns="0" rtlCol="0" anchor="ctr"/>
          <a:lstStyle/>
          <a:p>
            <a:pPr marL="0" indent="0">
              <a:buNone/>
            </a:pPr>
            <a:r>
              <a:rPr lang="en-US" sz="1700" b="1" dirty="0">
                <a:solidFill>
                  <a:srgbClr val="B85042"/>
                </a:solidFill>
                <a:latin typeface="Cambria" pitchFamily="34" charset="0"/>
                <a:ea typeface="Cambria" pitchFamily="34" charset="-122"/>
                <a:cs typeface="Cambria" pitchFamily="34" charset="-120"/>
              </a:rPr>
              <a:t>Diversify</a:t>
            </a:r>
            <a:endParaRPr lang="en-US" sz="1700" dirty="0"/>
          </a:p>
        </p:txBody>
      </p:sp>
      <p:sp>
        <p:nvSpPr>
          <p:cNvPr id="17" name="Text 14"/>
          <p:cNvSpPr/>
          <p:nvPr/>
        </p:nvSpPr>
        <p:spPr>
          <a:xfrm>
            <a:off x="6894576" y="4315968"/>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an oil hedge is not a gold hedge, they are different risks</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549640" y="4773168"/>
            <a:ext cx="365760" cy="228600"/>
          </a:xfrm>
          <a:prstGeom prst="rect">
            <a:avLst/>
          </a:prstGeom>
          <a:noFill/>
          <a:ln/>
        </p:spPr>
        <p:txBody>
          <a:bodyPr wrap="square" rtlCol="0" anchor="ctr"/>
          <a:lstStyle/>
          <a:p>
            <a:pPr marL="0" indent="0" algn="r">
              <a:buNone/>
            </a:pPr>
            <a:r>
              <a:rPr lang="en-US" sz="900" dirty="0">
                <a:solidFill>
                  <a:srgbClr val="8C8C8C"/>
                </a:solidFill>
                <a:latin typeface="Calibri" pitchFamily="34" charset="0"/>
                <a:ea typeface="Calibri" pitchFamily="34" charset="-122"/>
                <a:cs typeface="Calibri" pitchFamily="34" charset="-120"/>
              </a:rPr>
              <a:t>13</a:t>
            </a:r>
            <a:endParaRPr lang="en-US" sz="900" dirty="0"/>
          </a:p>
        </p:txBody>
      </p:sp>
      <p:sp>
        <p:nvSpPr>
          <p:cNvPr id="3" name="Text 1"/>
          <p:cNvSpPr/>
          <p:nvPr/>
        </p:nvSpPr>
        <p:spPr>
          <a:xfrm>
            <a:off x="457200" y="219456"/>
            <a:ext cx="8229600" cy="420624"/>
          </a:xfrm>
          <a:prstGeom prst="rect">
            <a:avLst/>
          </a:prstGeom>
          <a:noFill/>
          <a:ln/>
        </p:spPr>
        <p:txBody>
          <a:bodyPr wrap="square" lIns="0" tIns="0" rIns="0" bIns="0" rtlCol="0" anchor="ctr"/>
          <a:lstStyle/>
          <a:p>
            <a:pPr marL="0" indent="0">
              <a:buNone/>
            </a:pPr>
            <a:r>
              <a:rPr lang="en-US" sz="2200" b="1" dirty="0">
                <a:solidFill>
                  <a:srgbClr val="212121"/>
                </a:solidFill>
                <a:latin typeface="Cambria" pitchFamily="34" charset="0"/>
                <a:ea typeface="Cambria" pitchFamily="34" charset="-122"/>
                <a:cs typeface="Cambria" pitchFamily="34" charset="-120"/>
              </a:rPr>
              <a:t>Gold vs silver</a:t>
            </a:r>
            <a:endParaRPr lang="en-US" sz="2200" dirty="0"/>
          </a:p>
        </p:txBody>
      </p:sp>
      <p:sp>
        <p:nvSpPr>
          <p:cNvPr id="4" name="Text 2"/>
          <p:cNvSpPr/>
          <p:nvPr/>
        </p:nvSpPr>
        <p:spPr>
          <a:xfrm>
            <a:off x="457200" y="649224"/>
            <a:ext cx="8229600" cy="237744"/>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How many ounces of silver one ounce of gold buys</a:t>
            </a:r>
            <a:endParaRPr lang="en-US" sz="1100" dirty="0"/>
          </a:p>
        </p:txBody>
      </p:sp>
      <p:pic>
        <p:nvPicPr>
          <p:cNvPr id="5" name="Image 0" descr="/sessions/wizardly-tender-albattani/mnt/outputs/figs/gs_ratio.png"/>
          <p:cNvPicPr>
            <a:picLocks noChangeAspect="1"/>
          </p:cNvPicPr>
          <p:nvPr/>
        </p:nvPicPr>
        <p:blipFill>
          <a:blip r:embed="rId3"/>
          <a:stretch>
            <a:fillRect/>
          </a:stretch>
        </p:blipFill>
        <p:spPr>
          <a:xfrm>
            <a:off x="457200" y="1024128"/>
            <a:ext cx="8229600" cy="2862072"/>
          </a:xfrm>
          <a:prstGeom prst="rect">
            <a:avLst/>
          </a:prstGeom>
        </p:spPr>
      </p:pic>
      <p:sp>
        <p:nvSpPr>
          <p:cNvPr id="6" name="Shape 3"/>
          <p:cNvSpPr/>
          <p:nvPr/>
        </p:nvSpPr>
        <p:spPr>
          <a:xfrm>
            <a:off x="457200" y="3968496"/>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7" name="Text 4"/>
          <p:cNvSpPr/>
          <p:nvPr/>
        </p:nvSpPr>
        <p:spPr>
          <a:xfrm>
            <a:off x="585216" y="4014216"/>
            <a:ext cx="1664208" cy="310896"/>
          </a:xfrm>
          <a:prstGeom prst="rect">
            <a:avLst/>
          </a:prstGeom>
          <a:noFill/>
          <a:ln/>
        </p:spPr>
        <p:txBody>
          <a:bodyPr wrap="square" lIns="0" tIns="0" rIns="0" bIns="0" rtlCol="0" anchor="ctr"/>
          <a:lstStyle/>
          <a:p>
            <a:pPr marL="0" indent="0">
              <a:buNone/>
            </a:pPr>
            <a:r>
              <a:rPr lang="en-US" sz="1700" b="1" dirty="0">
                <a:solidFill>
                  <a:srgbClr val="B85042"/>
                </a:solidFill>
                <a:latin typeface="Cambria" pitchFamily="34" charset="0"/>
                <a:ea typeface="Cambria" pitchFamily="34" charset="-122"/>
                <a:cs typeface="Cambria" pitchFamily="34" charset="-120"/>
              </a:rPr>
              <a:t>115</a:t>
            </a:r>
            <a:endParaRPr lang="en-US" sz="1700" dirty="0"/>
          </a:p>
        </p:txBody>
      </p:sp>
      <p:sp>
        <p:nvSpPr>
          <p:cNvPr id="8" name="Text 5"/>
          <p:cNvSpPr/>
          <p:nvPr/>
        </p:nvSpPr>
        <p:spPr>
          <a:xfrm>
            <a:off x="585216" y="4315968"/>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April 2020, the highest ever: industry shut, gold bid</a:t>
            </a:r>
            <a:endParaRPr lang="en-US" sz="850" dirty="0"/>
          </a:p>
        </p:txBody>
      </p:sp>
      <p:sp>
        <p:nvSpPr>
          <p:cNvPr id="9" name="Shape 6"/>
          <p:cNvSpPr/>
          <p:nvPr/>
        </p:nvSpPr>
        <p:spPr>
          <a:xfrm>
            <a:off x="2560320" y="3968496"/>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10" name="Text 7"/>
          <p:cNvSpPr/>
          <p:nvPr/>
        </p:nvSpPr>
        <p:spPr>
          <a:xfrm>
            <a:off x="2688336" y="4014216"/>
            <a:ext cx="1664208" cy="310896"/>
          </a:xfrm>
          <a:prstGeom prst="rect">
            <a:avLst/>
          </a:prstGeom>
          <a:noFill/>
          <a:ln/>
        </p:spPr>
        <p:txBody>
          <a:bodyPr wrap="square" lIns="0" tIns="0" rIns="0" bIns="0" rtlCol="0" anchor="ctr"/>
          <a:lstStyle/>
          <a:p>
            <a:pPr marL="0" indent="0">
              <a:buNone/>
            </a:pPr>
            <a:r>
              <a:rPr lang="en-US" sz="1700" b="1" dirty="0">
                <a:solidFill>
                  <a:srgbClr val="B85042"/>
                </a:solidFill>
                <a:latin typeface="Cambria" pitchFamily="34" charset="0"/>
                <a:ea typeface="Cambria" pitchFamily="34" charset="-122"/>
                <a:cs typeface="Cambria" pitchFamily="34" charset="-120"/>
              </a:rPr>
              <a:t>17</a:t>
            </a:r>
            <a:endParaRPr lang="en-US" sz="1700" dirty="0"/>
          </a:p>
        </p:txBody>
      </p:sp>
      <p:sp>
        <p:nvSpPr>
          <p:cNvPr id="11" name="Text 8"/>
          <p:cNvSpPr/>
          <p:nvPr/>
        </p:nvSpPr>
        <p:spPr>
          <a:xfrm>
            <a:off x="2688336" y="4315968"/>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January 1980, the Hunt brothers' silver corner</a:t>
            </a:r>
            <a:endParaRPr lang="en-US" sz="850" dirty="0"/>
          </a:p>
        </p:txBody>
      </p:sp>
      <p:sp>
        <p:nvSpPr>
          <p:cNvPr id="12" name="Shape 9"/>
          <p:cNvSpPr/>
          <p:nvPr/>
        </p:nvSpPr>
        <p:spPr>
          <a:xfrm>
            <a:off x="4663440" y="3968496"/>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13" name="Text 10"/>
          <p:cNvSpPr/>
          <p:nvPr/>
        </p:nvSpPr>
        <p:spPr>
          <a:xfrm>
            <a:off x="4791456" y="4014216"/>
            <a:ext cx="1664208" cy="310896"/>
          </a:xfrm>
          <a:prstGeom prst="rect">
            <a:avLst/>
          </a:prstGeom>
          <a:noFill/>
          <a:ln/>
        </p:spPr>
        <p:txBody>
          <a:bodyPr wrap="square" lIns="0" tIns="0" rIns="0" bIns="0" rtlCol="0" anchor="ctr"/>
          <a:lstStyle/>
          <a:p>
            <a:pPr marL="0" indent="0">
              <a:buNone/>
            </a:pPr>
            <a:r>
              <a:rPr lang="en-US" sz="1700" b="1" dirty="0">
                <a:solidFill>
                  <a:srgbClr val="B8860B"/>
                </a:solidFill>
                <a:latin typeface="Cambria" pitchFamily="34" charset="0"/>
                <a:ea typeface="Cambria" pitchFamily="34" charset="-122"/>
                <a:cs typeface="Cambria" pitchFamily="34" charset="-120"/>
              </a:rPr>
              <a:t>53</a:t>
            </a:r>
            <a:endParaRPr lang="en-US" sz="1700" dirty="0"/>
          </a:p>
        </p:txBody>
      </p:sp>
      <p:sp>
        <p:nvSpPr>
          <p:cNvPr id="14" name="Text 11"/>
          <p:cNvSpPr/>
          <p:nvPr/>
        </p:nvSpPr>
        <p:spPr>
          <a:xfrm>
            <a:off x="4791456" y="4315968"/>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April 2026, the long-run average</a:t>
            </a:r>
            <a:endParaRPr lang="en-US" sz="850" dirty="0"/>
          </a:p>
        </p:txBody>
      </p:sp>
      <p:sp>
        <p:nvSpPr>
          <p:cNvPr id="15" name="Shape 12"/>
          <p:cNvSpPr/>
          <p:nvPr/>
        </p:nvSpPr>
        <p:spPr>
          <a:xfrm>
            <a:off x="6766560" y="3968496"/>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16" name="Text 13"/>
          <p:cNvSpPr/>
          <p:nvPr/>
        </p:nvSpPr>
        <p:spPr>
          <a:xfrm>
            <a:off x="6894576" y="4014216"/>
            <a:ext cx="1664208" cy="310896"/>
          </a:xfrm>
          <a:prstGeom prst="rect">
            <a:avLst/>
          </a:prstGeom>
          <a:noFill/>
          <a:ln/>
        </p:spPr>
        <p:txBody>
          <a:bodyPr wrap="square" lIns="0" tIns="0" rIns="0" bIns="0" rtlCol="0" anchor="ctr"/>
          <a:lstStyle/>
          <a:p>
            <a:pPr marL="0" indent="0">
              <a:buNone/>
            </a:pPr>
            <a:r>
              <a:rPr lang="en-US" sz="1700" b="1" dirty="0">
                <a:solidFill>
                  <a:srgbClr val="212121"/>
                </a:solidFill>
                <a:latin typeface="Cambria" pitchFamily="34" charset="0"/>
                <a:ea typeface="Cambria" pitchFamily="34" charset="-122"/>
                <a:cs typeface="Cambria" pitchFamily="34" charset="-120"/>
              </a:rPr>
              <a:t>Rising = fear</a:t>
            </a:r>
            <a:endParaRPr lang="en-US" sz="1700" dirty="0"/>
          </a:p>
        </p:txBody>
      </p:sp>
      <p:sp>
        <p:nvSpPr>
          <p:cNvPr id="17" name="Text 14"/>
          <p:cNvSpPr/>
          <p:nvPr/>
        </p:nvSpPr>
        <p:spPr>
          <a:xfrm>
            <a:off x="6894576" y="4315968"/>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falling = industrial demand returning</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549640" y="4773168"/>
            <a:ext cx="365760" cy="228600"/>
          </a:xfrm>
          <a:prstGeom prst="rect">
            <a:avLst/>
          </a:prstGeom>
          <a:noFill/>
          <a:ln/>
        </p:spPr>
        <p:txBody>
          <a:bodyPr wrap="square" rtlCol="0" anchor="ctr"/>
          <a:lstStyle/>
          <a:p>
            <a:pPr marL="0" indent="0" algn="r">
              <a:buNone/>
            </a:pPr>
            <a:r>
              <a:rPr lang="en-US" sz="900" dirty="0">
                <a:solidFill>
                  <a:srgbClr val="8C8C8C"/>
                </a:solidFill>
                <a:latin typeface="Calibri" pitchFamily="34" charset="0"/>
                <a:ea typeface="Calibri" pitchFamily="34" charset="-122"/>
                <a:cs typeface="Calibri" pitchFamily="34" charset="-120"/>
              </a:rPr>
              <a:t>14</a:t>
            </a:r>
            <a:endParaRPr lang="en-US" sz="900" dirty="0"/>
          </a:p>
        </p:txBody>
      </p:sp>
      <p:sp>
        <p:nvSpPr>
          <p:cNvPr id="3" name="Text 1"/>
          <p:cNvSpPr/>
          <p:nvPr/>
        </p:nvSpPr>
        <p:spPr>
          <a:xfrm>
            <a:off x="457200" y="219456"/>
            <a:ext cx="8229600" cy="420624"/>
          </a:xfrm>
          <a:prstGeom prst="rect">
            <a:avLst/>
          </a:prstGeom>
          <a:noFill/>
          <a:ln/>
        </p:spPr>
        <p:txBody>
          <a:bodyPr wrap="square" lIns="0" tIns="0" rIns="0" bIns="0" rtlCol="0" anchor="ctr"/>
          <a:lstStyle/>
          <a:p>
            <a:pPr marL="0" indent="0">
              <a:buNone/>
            </a:pPr>
            <a:r>
              <a:rPr lang="en-US" sz="2200" b="1" dirty="0">
                <a:solidFill>
                  <a:srgbClr val="212121"/>
                </a:solidFill>
                <a:latin typeface="Cambria" pitchFamily="34" charset="0"/>
                <a:ea typeface="Cambria" pitchFamily="34" charset="-122"/>
                <a:cs typeface="Cambria" pitchFamily="34" charset="-120"/>
              </a:rPr>
              <a:t>Hormuz</a:t>
            </a:r>
            <a:endParaRPr lang="en-US" sz="2200" dirty="0"/>
          </a:p>
        </p:txBody>
      </p:sp>
      <p:sp>
        <p:nvSpPr>
          <p:cNvPr id="4" name="Text 2"/>
          <p:cNvSpPr/>
          <p:nvPr/>
        </p:nvSpPr>
        <p:spPr>
          <a:xfrm>
            <a:off x="457200" y="649224"/>
            <a:ext cx="8229600" cy="237744"/>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One chokepoint, four markets, twelve months of data</a:t>
            </a:r>
            <a:endParaRPr lang="en-US" sz="1100" dirty="0"/>
          </a:p>
        </p:txBody>
      </p:sp>
      <p:pic>
        <p:nvPicPr>
          <p:cNvPr id="5" name="Image 0" descr="/sessions/wizardly-tender-albattani/mnt/outputs/figs/hormuz.png"/>
          <p:cNvPicPr>
            <a:picLocks noChangeAspect="1"/>
          </p:cNvPicPr>
          <p:nvPr/>
        </p:nvPicPr>
        <p:blipFill>
          <a:blip r:embed="rId3"/>
          <a:stretch>
            <a:fillRect/>
          </a:stretch>
        </p:blipFill>
        <p:spPr>
          <a:xfrm>
            <a:off x="457200" y="969264"/>
            <a:ext cx="8229600" cy="2596896"/>
          </a:xfrm>
          <a:prstGeom prst="rect">
            <a:avLst/>
          </a:prstGeom>
        </p:spPr>
      </p:pic>
      <p:sp>
        <p:nvSpPr>
          <p:cNvPr id="6" name="Shape 3"/>
          <p:cNvSpPr/>
          <p:nvPr/>
        </p:nvSpPr>
        <p:spPr>
          <a:xfrm>
            <a:off x="457200" y="3675888"/>
            <a:ext cx="237744" cy="237744"/>
          </a:xfrm>
          <a:prstGeom prst="ellipse">
            <a:avLst/>
          </a:prstGeom>
          <a:solidFill>
            <a:srgbClr val="B85042"/>
          </a:solidFill>
          <a:ln w="12700">
            <a:solidFill>
              <a:srgbClr val="FFFFFF"/>
            </a:solidFill>
            <a:prstDash val="solid"/>
          </a:ln>
        </p:spPr>
        <p:txBody>
          <a:bodyPr/>
          <a:lstStyle/>
          <a:p>
            <a:endParaRPr/>
          </a:p>
        </p:txBody>
      </p:sp>
      <p:sp>
        <p:nvSpPr>
          <p:cNvPr id="7" name="Text 4"/>
          <p:cNvSpPr/>
          <p:nvPr/>
        </p:nvSpPr>
        <p:spPr>
          <a:xfrm>
            <a:off x="457200" y="367588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5"/>
          <p:cNvSpPr/>
          <p:nvPr/>
        </p:nvSpPr>
        <p:spPr>
          <a:xfrm>
            <a:off x="768096" y="3675888"/>
            <a:ext cx="1609344" cy="237744"/>
          </a:xfrm>
          <a:prstGeom prst="rect">
            <a:avLst/>
          </a:prstGeom>
          <a:noFill/>
          <a:ln/>
        </p:spPr>
        <p:txBody>
          <a:bodyPr wrap="square" lIns="0" tIns="0" rIns="0" bIns="0" rtlCol="0" anchor="ctr"/>
          <a:lstStyle/>
          <a:p>
            <a:pPr marL="0" indent="0">
              <a:buNone/>
            </a:pPr>
            <a:r>
              <a:rPr lang="en-US" sz="1050" b="1" dirty="0">
                <a:solidFill>
                  <a:srgbClr val="212121"/>
                </a:solidFill>
                <a:latin typeface="Cambria" pitchFamily="34" charset="0"/>
                <a:ea typeface="Cambria" pitchFamily="34" charset="-122"/>
                <a:cs typeface="Cambria" pitchFamily="34" charset="-120"/>
              </a:rPr>
              <a:t>Chokepoint closes</a:t>
            </a:r>
            <a:endParaRPr lang="en-US" sz="1050" dirty="0"/>
          </a:p>
        </p:txBody>
      </p:sp>
      <p:sp>
        <p:nvSpPr>
          <p:cNvPr id="9" name="Text 6"/>
          <p:cNvSpPr/>
          <p:nvPr/>
        </p:nvSpPr>
        <p:spPr>
          <a:xfrm>
            <a:off x="457200" y="3968496"/>
            <a:ext cx="1920240" cy="658368"/>
          </a:xfrm>
          <a:prstGeom prst="rect">
            <a:avLst/>
          </a:prstGeom>
          <a:noFill/>
          <a:ln/>
        </p:spPr>
        <p:txBody>
          <a:bodyPr wrap="square" lIns="0" tIns="0" rIns="0" bIns="0" rtlCol="0" anchor="t"/>
          <a:lstStyle/>
          <a:p>
            <a:pPr marL="0" indent="0">
              <a:lnSpc>
                <a:spcPts val="1000"/>
              </a:lnSpc>
              <a:buNone/>
            </a:pPr>
            <a:r>
              <a:rPr lang="en-US" sz="820" dirty="0">
                <a:solidFill>
                  <a:srgbClr val="666666"/>
                </a:solidFill>
                <a:latin typeface="Calibri" pitchFamily="34" charset="0"/>
                <a:ea typeface="Calibri" pitchFamily="34" charset="-122"/>
                <a:cs typeface="Calibri" pitchFamily="34" charset="-120"/>
              </a:rPr>
              <a:t>About a fifth of seaborne crude cannot sail. Physical supply, not sentiment.</a:t>
            </a:r>
            <a:endParaRPr lang="en-US" sz="820" dirty="0"/>
          </a:p>
        </p:txBody>
      </p:sp>
      <p:sp>
        <p:nvSpPr>
          <p:cNvPr id="10" name="Shape 7"/>
          <p:cNvSpPr/>
          <p:nvPr/>
        </p:nvSpPr>
        <p:spPr>
          <a:xfrm>
            <a:off x="2560320" y="3675888"/>
            <a:ext cx="237744" cy="237744"/>
          </a:xfrm>
          <a:prstGeom prst="ellipse">
            <a:avLst/>
          </a:prstGeom>
          <a:solidFill>
            <a:srgbClr val="2F4858"/>
          </a:solidFill>
          <a:ln w="12700">
            <a:solidFill>
              <a:srgbClr val="FFFFFF"/>
            </a:solidFill>
            <a:prstDash val="solid"/>
          </a:ln>
        </p:spPr>
        <p:txBody>
          <a:bodyPr/>
          <a:lstStyle/>
          <a:p>
            <a:endParaRPr/>
          </a:p>
        </p:txBody>
      </p:sp>
      <p:sp>
        <p:nvSpPr>
          <p:cNvPr id="11" name="Text 8"/>
          <p:cNvSpPr/>
          <p:nvPr/>
        </p:nvSpPr>
        <p:spPr>
          <a:xfrm>
            <a:off x="2560320" y="367588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2" name="Text 9"/>
          <p:cNvSpPr/>
          <p:nvPr/>
        </p:nvSpPr>
        <p:spPr>
          <a:xfrm>
            <a:off x="2871216" y="3675888"/>
            <a:ext cx="1609344" cy="237744"/>
          </a:xfrm>
          <a:prstGeom prst="rect">
            <a:avLst/>
          </a:prstGeom>
          <a:noFill/>
          <a:ln/>
        </p:spPr>
        <p:txBody>
          <a:bodyPr wrap="square" lIns="0" tIns="0" rIns="0" bIns="0" rtlCol="0" anchor="ctr"/>
          <a:lstStyle/>
          <a:p>
            <a:pPr marL="0" indent="0">
              <a:buNone/>
            </a:pPr>
            <a:r>
              <a:rPr lang="en-US" sz="1050" b="1" dirty="0">
                <a:solidFill>
                  <a:srgbClr val="212121"/>
                </a:solidFill>
                <a:latin typeface="Cambria" pitchFamily="34" charset="0"/>
                <a:ea typeface="Cambria" pitchFamily="34" charset="-122"/>
                <a:cs typeface="Cambria" pitchFamily="34" charset="-120"/>
              </a:rPr>
              <a:t>Oil reprices in weeks</a:t>
            </a:r>
            <a:endParaRPr lang="en-US" sz="1050" dirty="0"/>
          </a:p>
        </p:txBody>
      </p:sp>
      <p:sp>
        <p:nvSpPr>
          <p:cNvPr id="13" name="Text 10"/>
          <p:cNvSpPr/>
          <p:nvPr/>
        </p:nvSpPr>
        <p:spPr>
          <a:xfrm>
            <a:off x="2560320" y="3968496"/>
            <a:ext cx="1920240" cy="658368"/>
          </a:xfrm>
          <a:prstGeom prst="rect">
            <a:avLst/>
          </a:prstGeom>
          <a:noFill/>
          <a:ln/>
        </p:spPr>
        <p:txBody>
          <a:bodyPr wrap="square" lIns="0" tIns="0" rIns="0" bIns="0" rtlCol="0" anchor="t"/>
          <a:lstStyle/>
          <a:p>
            <a:pPr marL="0" indent="0">
              <a:lnSpc>
                <a:spcPts val="1000"/>
              </a:lnSpc>
              <a:buNone/>
            </a:pPr>
            <a:r>
              <a:rPr lang="en-US" sz="820" dirty="0">
                <a:solidFill>
                  <a:srgbClr val="666666"/>
                </a:solidFill>
                <a:latin typeface="Calibri" pitchFamily="34" charset="0"/>
                <a:ea typeface="Calibri" pitchFamily="34" charset="-122"/>
                <a:cs typeface="Calibri" pitchFamily="34" charset="-120"/>
              </a:rPr>
              <a:t>+52.0% in a single month, the largest monthly rise in the eighty-year series.</a:t>
            </a:r>
            <a:endParaRPr lang="en-US" sz="820" dirty="0"/>
          </a:p>
        </p:txBody>
      </p:sp>
      <p:sp>
        <p:nvSpPr>
          <p:cNvPr id="14" name="Shape 11"/>
          <p:cNvSpPr/>
          <p:nvPr/>
        </p:nvSpPr>
        <p:spPr>
          <a:xfrm>
            <a:off x="4663440" y="3675888"/>
            <a:ext cx="237744" cy="237744"/>
          </a:xfrm>
          <a:prstGeom prst="ellipse">
            <a:avLst/>
          </a:prstGeom>
          <a:solidFill>
            <a:srgbClr val="B8860B"/>
          </a:solidFill>
          <a:ln w="12700">
            <a:solidFill>
              <a:srgbClr val="FFFFFF"/>
            </a:solidFill>
            <a:prstDash val="solid"/>
          </a:ln>
        </p:spPr>
        <p:txBody>
          <a:bodyPr/>
          <a:lstStyle/>
          <a:p>
            <a:endParaRPr/>
          </a:p>
        </p:txBody>
      </p:sp>
      <p:sp>
        <p:nvSpPr>
          <p:cNvPr id="15" name="Text 12"/>
          <p:cNvSpPr/>
          <p:nvPr/>
        </p:nvSpPr>
        <p:spPr>
          <a:xfrm>
            <a:off x="4663440" y="367588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6" name="Text 13"/>
          <p:cNvSpPr/>
          <p:nvPr/>
        </p:nvSpPr>
        <p:spPr>
          <a:xfrm>
            <a:off x="4974336" y="3675888"/>
            <a:ext cx="1609344" cy="237744"/>
          </a:xfrm>
          <a:prstGeom prst="rect">
            <a:avLst/>
          </a:prstGeom>
          <a:noFill/>
          <a:ln/>
        </p:spPr>
        <p:txBody>
          <a:bodyPr wrap="square" lIns="0" tIns="0" rIns="0" bIns="0" rtlCol="0" anchor="ctr"/>
          <a:lstStyle/>
          <a:p>
            <a:pPr marL="0" indent="0">
              <a:buNone/>
            </a:pPr>
            <a:r>
              <a:rPr lang="en-US" sz="1050" b="1" dirty="0">
                <a:solidFill>
                  <a:srgbClr val="212121"/>
                </a:solidFill>
                <a:latin typeface="Cambria" pitchFamily="34" charset="0"/>
                <a:ea typeface="Cambria" pitchFamily="34" charset="-122"/>
                <a:cs typeface="Cambria" pitchFamily="34" charset="-120"/>
              </a:rPr>
              <a:t>Metals price the policy response</a:t>
            </a:r>
            <a:endParaRPr lang="en-US" sz="1050" dirty="0"/>
          </a:p>
        </p:txBody>
      </p:sp>
      <p:sp>
        <p:nvSpPr>
          <p:cNvPr id="17" name="Text 14"/>
          <p:cNvSpPr/>
          <p:nvPr/>
        </p:nvSpPr>
        <p:spPr>
          <a:xfrm>
            <a:off x="4663440" y="3968496"/>
            <a:ext cx="1920240" cy="658368"/>
          </a:xfrm>
          <a:prstGeom prst="rect">
            <a:avLst/>
          </a:prstGeom>
          <a:noFill/>
          <a:ln/>
        </p:spPr>
        <p:txBody>
          <a:bodyPr wrap="square" lIns="0" tIns="0" rIns="0" bIns="0" rtlCol="0" anchor="t"/>
          <a:lstStyle/>
          <a:p>
            <a:pPr marL="0" indent="0">
              <a:lnSpc>
                <a:spcPts val="1000"/>
              </a:lnSpc>
              <a:buNone/>
            </a:pPr>
            <a:r>
              <a:rPr lang="en-US" sz="820" dirty="0">
                <a:solidFill>
                  <a:srgbClr val="666666"/>
                </a:solidFill>
                <a:latin typeface="Calibri" pitchFamily="34" charset="0"/>
                <a:ea typeface="Calibri" pitchFamily="34" charset="-122"/>
                <a:cs typeface="Calibri" pitchFamily="34" charset="-120"/>
              </a:rPr>
              <a:t>Gold peaks in February on the expectation of easing; silver overshoots, then gives back 22.5%.</a:t>
            </a:r>
            <a:endParaRPr lang="en-US" sz="820" dirty="0"/>
          </a:p>
        </p:txBody>
      </p:sp>
      <p:sp>
        <p:nvSpPr>
          <p:cNvPr id="18" name="Shape 15"/>
          <p:cNvSpPr/>
          <p:nvPr/>
        </p:nvSpPr>
        <p:spPr>
          <a:xfrm>
            <a:off x="6766560" y="3675888"/>
            <a:ext cx="237744" cy="237744"/>
          </a:xfrm>
          <a:prstGeom prst="ellipse">
            <a:avLst/>
          </a:prstGeom>
          <a:solidFill>
            <a:srgbClr val="2C5F5D"/>
          </a:solidFill>
          <a:ln w="12700">
            <a:solidFill>
              <a:srgbClr val="FFFFFF"/>
            </a:solidFill>
            <a:prstDash val="solid"/>
          </a:ln>
        </p:spPr>
        <p:txBody>
          <a:bodyPr/>
          <a:lstStyle/>
          <a:p>
            <a:endParaRPr/>
          </a:p>
        </p:txBody>
      </p:sp>
      <p:sp>
        <p:nvSpPr>
          <p:cNvPr id="19" name="Text 16"/>
          <p:cNvSpPr/>
          <p:nvPr/>
        </p:nvSpPr>
        <p:spPr>
          <a:xfrm>
            <a:off x="6766560" y="3675888"/>
            <a:ext cx="237744" cy="23774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0" name="Text 17"/>
          <p:cNvSpPr/>
          <p:nvPr/>
        </p:nvSpPr>
        <p:spPr>
          <a:xfrm>
            <a:off x="7077456" y="3675888"/>
            <a:ext cx="1609344" cy="237744"/>
          </a:xfrm>
          <a:prstGeom prst="rect">
            <a:avLst/>
          </a:prstGeom>
          <a:noFill/>
          <a:ln/>
        </p:spPr>
        <p:txBody>
          <a:bodyPr wrap="square" lIns="0" tIns="0" rIns="0" bIns="0" rtlCol="0" anchor="ctr"/>
          <a:lstStyle/>
          <a:p>
            <a:pPr marL="0" indent="0">
              <a:buNone/>
            </a:pPr>
            <a:r>
              <a:rPr lang="en-US" sz="1050" b="1" dirty="0">
                <a:solidFill>
                  <a:srgbClr val="212121"/>
                </a:solidFill>
                <a:latin typeface="Cambria" pitchFamily="34" charset="0"/>
                <a:ea typeface="Cambria" pitchFamily="34" charset="-122"/>
                <a:cs typeface="Cambria" pitchFamily="34" charset="-120"/>
              </a:rPr>
              <a:t>Settlement barely moves</a:t>
            </a:r>
            <a:endParaRPr lang="en-US" sz="1050" dirty="0"/>
          </a:p>
        </p:txBody>
      </p:sp>
      <p:sp>
        <p:nvSpPr>
          <p:cNvPr id="21" name="Text 18"/>
          <p:cNvSpPr/>
          <p:nvPr/>
        </p:nvSpPr>
        <p:spPr>
          <a:xfrm>
            <a:off x="6766560" y="3968496"/>
            <a:ext cx="1920240" cy="658368"/>
          </a:xfrm>
          <a:prstGeom prst="rect">
            <a:avLst/>
          </a:prstGeom>
          <a:noFill/>
          <a:ln/>
        </p:spPr>
        <p:txBody>
          <a:bodyPr wrap="square" lIns="0" tIns="0" rIns="0" bIns="0" rtlCol="0" anchor="t"/>
          <a:lstStyle/>
          <a:p>
            <a:pPr marL="0" indent="0">
              <a:lnSpc>
                <a:spcPts val="1000"/>
              </a:lnSpc>
              <a:buNone/>
            </a:pPr>
            <a:r>
              <a:rPr lang="en-US" sz="820" dirty="0">
                <a:solidFill>
                  <a:srgbClr val="666666"/>
                </a:solidFill>
                <a:latin typeface="Calibri" pitchFamily="34" charset="0"/>
                <a:ea typeface="Calibri" pitchFamily="34" charset="-122"/>
                <a:cs typeface="Calibri" pitchFamily="34" charset="-120"/>
              </a:rPr>
              <a:t>The dollar's payment share changes by less than two percentage points across the whole episode.</a:t>
            </a:r>
            <a:endParaRPr lang="en-US" sz="820" dirty="0"/>
          </a:p>
        </p:txBody>
      </p:sp>
      <p:sp>
        <p:nvSpPr>
          <p:cNvPr id="22" name="Text 19"/>
          <p:cNvSpPr/>
          <p:nvPr/>
        </p:nvSpPr>
        <p:spPr>
          <a:xfrm>
            <a:off x="457200" y="4626864"/>
            <a:ext cx="8229600" cy="457200"/>
          </a:xfrm>
          <a:prstGeom prst="rect">
            <a:avLst/>
          </a:prstGeom>
          <a:noFill/>
          <a:ln/>
        </p:spPr>
        <p:txBody>
          <a:bodyPr wrap="square" lIns="0" tIns="0" rIns="0" bIns="0" rtlCol="0" anchor="t"/>
          <a:lstStyle/>
          <a:p>
            <a:pPr marL="0" indent="0">
              <a:lnSpc>
                <a:spcPts val="1400"/>
              </a:lnSpc>
              <a:buNone/>
            </a:pP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549640" y="4773168"/>
            <a:ext cx="365760" cy="228600"/>
          </a:xfrm>
          <a:prstGeom prst="rect">
            <a:avLst/>
          </a:prstGeom>
          <a:noFill/>
          <a:ln/>
        </p:spPr>
        <p:txBody>
          <a:bodyPr wrap="square" rtlCol="0" anchor="ctr"/>
          <a:lstStyle/>
          <a:p>
            <a:pPr marL="0" indent="0" algn="r">
              <a:buNone/>
            </a:pPr>
            <a:r>
              <a:rPr lang="en-US" sz="900" dirty="0">
                <a:solidFill>
                  <a:srgbClr val="8C8C8C"/>
                </a:solidFill>
                <a:latin typeface="Calibri" pitchFamily="34" charset="0"/>
                <a:ea typeface="Calibri" pitchFamily="34" charset="-122"/>
                <a:cs typeface="Calibri" pitchFamily="34" charset="-120"/>
              </a:rPr>
              <a:t>15</a:t>
            </a:r>
            <a:endParaRPr lang="en-US" sz="900" dirty="0"/>
          </a:p>
        </p:txBody>
      </p:sp>
      <p:sp>
        <p:nvSpPr>
          <p:cNvPr id="3" name="Text 1"/>
          <p:cNvSpPr/>
          <p:nvPr/>
        </p:nvSpPr>
        <p:spPr>
          <a:xfrm>
            <a:off x="457200" y="219456"/>
            <a:ext cx="8229600" cy="420624"/>
          </a:xfrm>
          <a:prstGeom prst="rect">
            <a:avLst/>
          </a:prstGeom>
          <a:noFill/>
          <a:ln/>
        </p:spPr>
        <p:txBody>
          <a:bodyPr wrap="square" lIns="0" tIns="0" rIns="0" bIns="0" rtlCol="0" anchor="ctr"/>
          <a:lstStyle/>
          <a:p>
            <a:pPr marL="0" indent="0">
              <a:buNone/>
            </a:pPr>
            <a:r>
              <a:rPr lang="en-US" sz="2200" b="1" dirty="0">
                <a:solidFill>
                  <a:srgbClr val="212121"/>
                </a:solidFill>
                <a:latin typeface="Cambria" pitchFamily="34" charset="0"/>
                <a:ea typeface="Cambria" pitchFamily="34" charset="-122"/>
                <a:cs typeface="Cambria" pitchFamily="34" charset="-120"/>
              </a:rPr>
              <a:t>Crisis types</a:t>
            </a:r>
            <a:endParaRPr lang="en-US" sz="2200" dirty="0"/>
          </a:p>
        </p:txBody>
      </p:sp>
      <p:sp>
        <p:nvSpPr>
          <p:cNvPr id="4" name="Text 2"/>
          <p:cNvSpPr/>
          <p:nvPr/>
        </p:nvSpPr>
        <p:spPr>
          <a:xfrm>
            <a:off x="457200" y="649224"/>
            <a:ext cx="8229600" cy="237744"/>
          </a:xfrm>
          <a:prstGeom prst="rect">
            <a:avLst/>
          </a:prstGeom>
          <a:noFill/>
          <a:ln/>
        </p:spPr>
        <p:txBody>
          <a:bodyPr wrap="square" lIns="0" tIns="0" rIns="0" bIns="0" rtlCol="0" anchor="ctr"/>
          <a:lstStyle/>
          <a:p>
            <a:pPr marL="0" indent="0">
              <a:buNone/>
            </a:pPr>
            <a:r>
              <a:rPr lang="en-US" sz="1100" dirty="0">
                <a:solidFill>
                  <a:srgbClr val="666666"/>
                </a:solidFill>
                <a:latin typeface="Calibri" pitchFamily="34" charset="0"/>
                <a:ea typeface="Calibri" pitchFamily="34" charset="-122"/>
                <a:cs typeface="Calibri" pitchFamily="34" charset="-120"/>
              </a:rPr>
              <a:t>Year-on-year change in annual average. 2026 is year-to-date, four months.</a:t>
            </a:r>
            <a:endParaRPr lang="en-US" sz="1100" dirty="0"/>
          </a:p>
        </p:txBody>
      </p:sp>
      <p:pic>
        <p:nvPicPr>
          <p:cNvPr id="5" name="Image 0" descr="/sessions/wizardly-tender-albattani/mnt/outputs/figs/crisis.png"/>
          <p:cNvPicPr>
            <a:picLocks noChangeAspect="1"/>
          </p:cNvPicPr>
          <p:nvPr/>
        </p:nvPicPr>
        <p:blipFill>
          <a:blip r:embed="rId3"/>
          <a:stretch>
            <a:fillRect/>
          </a:stretch>
        </p:blipFill>
        <p:spPr>
          <a:xfrm>
            <a:off x="457200" y="1024128"/>
            <a:ext cx="8229600" cy="2944368"/>
          </a:xfrm>
          <a:prstGeom prst="rect">
            <a:avLst/>
          </a:prstGeom>
        </p:spPr>
      </p:pic>
      <p:sp>
        <p:nvSpPr>
          <p:cNvPr id="6" name="Shape 3"/>
          <p:cNvSpPr/>
          <p:nvPr/>
        </p:nvSpPr>
        <p:spPr>
          <a:xfrm>
            <a:off x="457200" y="4041648"/>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7" name="Text 4"/>
          <p:cNvSpPr/>
          <p:nvPr/>
        </p:nvSpPr>
        <p:spPr>
          <a:xfrm>
            <a:off x="585216" y="4087368"/>
            <a:ext cx="1664208" cy="310896"/>
          </a:xfrm>
          <a:prstGeom prst="rect">
            <a:avLst/>
          </a:prstGeom>
          <a:noFill/>
          <a:ln/>
        </p:spPr>
        <p:txBody>
          <a:bodyPr wrap="square" lIns="0" tIns="0" rIns="0" bIns="0" rtlCol="0" anchor="ctr"/>
          <a:lstStyle/>
          <a:p>
            <a:pPr marL="0" indent="0">
              <a:buNone/>
            </a:pPr>
            <a:r>
              <a:rPr lang="en-US" sz="1700" b="1" dirty="0">
                <a:solidFill>
                  <a:srgbClr val="2F4858"/>
                </a:solidFill>
                <a:latin typeface="Cambria" pitchFamily="34" charset="0"/>
                <a:ea typeface="Cambria" pitchFamily="34" charset="-122"/>
                <a:cs typeface="Cambria" pitchFamily="34" charset="-120"/>
              </a:rPr>
              <a:t>Demand shock</a:t>
            </a:r>
            <a:endParaRPr lang="en-US" sz="1700" dirty="0"/>
          </a:p>
        </p:txBody>
      </p:sp>
      <p:sp>
        <p:nvSpPr>
          <p:cNvPr id="8" name="Text 5"/>
          <p:cNvSpPr/>
          <p:nvPr/>
        </p:nvSpPr>
        <p:spPr>
          <a:xfrm>
            <a:off x="585216" y="4389120"/>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2020: oil collapses, both metals rise. Opposite signs.</a:t>
            </a:r>
            <a:endParaRPr lang="en-US" sz="850" dirty="0"/>
          </a:p>
        </p:txBody>
      </p:sp>
      <p:sp>
        <p:nvSpPr>
          <p:cNvPr id="9" name="Shape 6"/>
          <p:cNvSpPr/>
          <p:nvPr/>
        </p:nvSpPr>
        <p:spPr>
          <a:xfrm>
            <a:off x="2560320" y="4041648"/>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10" name="Text 7"/>
          <p:cNvSpPr/>
          <p:nvPr/>
        </p:nvSpPr>
        <p:spPr>
          <a:xfrm>
            <a:off x="2688336" y="4087368"/>
            <a:ext cx="1664208" cy="310896"/>
          </a:xfrm>
          <a:prstGeom prst="rect">
            <a:avLst/>
          </a:prstGeom>
          <a:noFill/>
          <a:ln/>
        </p:spPr>
        <p:txBody>
          <a:bodyPr wrap="square" lIns="0" tIns="0" rIns="0" bIns="0" rtlCol="0" anchor="ctr"/>
          <a:lstStyle/>
          <a:p>
            <a:pPr marL="0" indent="0">
              <a:buNone/>
            </a:pPr>
            <a:r>
              <a:rPr lang="en-US" sz="1700" b="1" dirty="0">
                <a:solidFill>
                  <a:srgbClr val="B85042"/>
                </a:solidFill>
                <a:latin typeface="Cambria" pitchFamily="34" charset="0"/>
                <a:ea typeface="Cambria" pitchFamily="34" charset="-122"/>
                <a:cs typeface="Cambria" pitchFamily="34" charset="-120"/>
              </a:rPr>
              <a:t>Supply shock</a:t>
            </a:r>
            <a:endParaRPr lang="en-US" sz="1700" dirty="0"/>
          </a:p>
        </p:txBody>
      </p:sp>
      <p:sp>
        <p:nvSpPr>
          <p:cNvPr id="11" name="Text 8"/>
          <p:cNvSpPr/>
          <p:nvPr/>
        </p:nvSpPr>
        <p:spPr>
          <a:xfrm>
            <a:off x="2688336" y="4389120"/>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2022: oil rises, silver falls. Opposite signs again.</a:t>
            </a:r>
            <a:endParaRPr lang="en-US" sz="850" dirty="0"/>
          </a:p>
        </p:txBody>
      </p:sp>
      <p:sp>
        <p:nvSpPr>
          <p:cNvPr id="12" name="Shape 9"/>
          <p:cNvSpPr/>
          <p:nvPr/>
        </p:nvSpPr>
        <p:spPr>
          <a:xfrm>
            <a:off x="4663440" y="4041648"/>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13" name="Text 10"/>
          <p:cNvSpPr/>
          <p:nvPr/>
        </p:nvSpPr>
        <p:spPr>
          <a:xfrm>
            <a:off x="4791456" y="4087368"/>
            <a:ext cx="1664208" cy="310896"/>
          </a:xfrm>
          <a:prstGeom prst="rect">
            <a:avLst/>
          </a:prstGeom>
          <a:noFill/>
          <a:ln/>
        </p:spPr>
        <p:txBody>
          <a:bodyPr wrap="square" lIns="0" tIns="0" rIns="0" bIns="0" rtlCol="0" anchor="ctr"/>
          <a:lstStyle/>
          <a:p>
            <a:pPr marL="0" indent="0">
              <a:buNone/>
            </a:pPr>
            <a:r>
              <a:rPr lang="en-US" sz="1700" b="1" dirty="0">
                <a:solidFill>
                  <a:srgbClr val="212121"/>
                </a:solidFill>
                <a:latin typeface="Cambria" pitchFamily="34" charset="0"/>
                <a:ea typeface="Cambria" pitchFamily="34" charset="-122"/>
                <a:cs typeface="Cambria" pitchFamily="34" charset="-120"/>
              </a:rPr>
              <a:t>Financial shock</a:t>
            </a:r>
            <a:endParaRPr lang="en-US" sz="1700" dirty="0"/>
          </a:p>
        </p:txBody>
      </p:sp>
      <p:sp>
        <p:nvSpPr>
          <p:cNvPr id="14" name="Text 11"/>
          <p:cNvSpPr/>
          <p:nvPr/>
        </p:nvSpPr>
        <p:spPr>
          <a:xfrm>
            <a:off x="4791456" y="4389120"/>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2008: everything rises, then everything falls together.</a:t>
            </a:r>
            <a:endParaRPr lang="en-US" sz="850" dirty="0"/>
          </a:p>
        </p:txBody>
      </p:sp>
      <p:sp>
        <p:nvSpPr>
          <p:cNvPr id="15" name="Shape 12"/>
          <p:cNvSpPr/>
          <p:nvPr/>
        </p:nvSpPr>
        <p:spPr>
          <a:xfrm>
            <a:off x="6766560" y="4041648"/>
            <a:ext cx="1920240" cy="694944"/>
          </a:xfrm>
          <a:prstGeom prst="roundRect">
            <a:avLst>
              <a:gd name="adj" fmla="val 6579"/>
            </a:avLst>
          </a:prstGeom>
          <a:solidFill>
            <a:srgbClr val="F6F5F2"/>
          </a:solidFill>
          <a:ln w="12700">
            <a:solidFill>
              <a:srgbClr val="FFFFFF"/>
            </a:solidFill>
            <a:prstDash val="solid"/>
          </a:ln>
        </p:spPr>
        <p:txBody>
          <a:bodyPr/>
          <a:lstStyle/>
          <a:p>
            <a:endParaRPr/>
          </a:p>
        </p:txBody>
      </p:sp>
      <p:sp>
        <p:nvSpPr>
          <p:cNvPr id="16" name="Text 13"/>
          <p:cNvSpPr/>
          <p:nvPr/>
        </p:nvSpPr>
        <p:spPr>
          <a:xfrm>
            <a:off x="6894576" y="4087368"/>
            <a:ext cx="1664208" cy="310896"/>
          </a:xfrm>
          <a:prstGeom prst="rect">
            <a:avLst/>
          </a:prstGeom>
          <a:noFill/>
          <a:ln/>
        </p:spPr>
        <p:txBody>
          <a:bodyPr wrap="square" lIns="0" tIns="0" rIns="0" bIns="0" rtlCol="0" anchor="ctr"/>
          <a:lstStyle/>
          <a:p>
            <a:pPr marL="0" indent="0">
              <a:buNone/>
            </a:pPr>
            <a:r>
              <a:rPr lang="en-US" sz="1700" b="1" dirty="0">
                <a:solidFill>
                  <a:srgbClr val="B8860B"/>
                </a:solidFill>
                <a:latin typeface="Cambria" pitchFamily="34" charset="0"/>
                <a:ea typeface="Cambria" pitchFamily="34" charset="-122"/>
                <a:cs typeface="Cambria" pitchFamily="34" charset="-120"/>
              </a:rPr>
              <a:t>Monetary shift</a:t>
            </a:r>
            <a:endParaRPr lang="en-US" sz="1700" dirty="0"/>
          </a:p>
        </p:txBody>
      </p:sp>
      <p:sp>
        <p:nvSpPr>
          <p:cNvPr id="17" name="Text 14"/>
          <p:cNvSpPr/>
          <p:nvPr/>
        </p:nvSpPr>
        <p:spPr>
          <a:xfrm>
            <a:off x="6894576" y="4389120"/>
            <a:ext cx="1664208" cy="301752"/>
          </a:xfrm>
          <a:prstGeom prst="rect">
            <a:avLst/>
          </a:prstGeom>
          <a:noFill/>
          <a:ln/>
        </p:spPr>
        <p:txBody>
          <a:bodyPr wrap="square" lIns="0" tIns="0" rIns="0" bIns="0" rtlCol="0" anchor="t"/>
          <a:lstStyle/>
          <a:p>
            <a:pPr marL="0" indent="0">
              <a:lnSpc>
                <a:spcPts val="1000"/>
              </a:lnSpc>
              <a:buNone/>
            </a:pPr>
            <a:r>
              <a:rPr lang="en-US" sz="850" dirty="0">
                <a:solidFill>
                  <a:srgbClr val="666666"/>
                </a:solidFill>
                <a:latin typeface="Calibri" pitchFamily="34" charset="0"/>
                <a:ea typeface="Calibri" pitchFamily="34" charset="-122"/>
                <a:cs typeface="Calibri" pitchFamily="34" charset="-120"/>
              </a:rPr>
              <a:t>2024–26: metals rise on their own, without a crisis.</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E2B33"/>
        </a:solidFill>
        <a:effectLst/>
      </p:bgPr>
    </p:bg>
    <p:spTree>
      <p:nvGrpSpPr>
        <p:cNvPr id="1" name=""/>
        <p:cNvGrpSpPr/>
        <p:nvPr/>
      </p:nvGrpSpPr>
      <p:grpSpPr>
        <a:xfrm>
          <a:off x="0" y="0"/>
          <a:ext cx="0" cy="0"/>
          <a:chOff x="0" y="0"/>
          <a:chExt cx="0" cy="0"/>
        </a:xfrm>
      </p:grpSpPr>
      <p:sp>
        <p:nvSpPr>
          <p:cNvPr id="2" name="Text 0"/>
          <p:cNvSpPr/>
          <p:nvPr/>
        </p:nvSpPr>
        <p:spPr>
          <a:xfrm>
            <a:off x="8549640" y="4773168"/>
            <a:ext cx="365760" cy="228600"/>
          </a:xfrm>
          <a:prstGeom prst="rect">
            <a:avLst/>
          </a:prstGeom>
          <a:noFill/>
          <a:ln/>
        </p:spPr>
        <p:txBody>
          <a:bodyPr wrap="square" rtlCol="0" anchor="ctr"/>
          <a:lstStyle/>
          <a:p>
            <a:pPr marL="0" indent="0" algn="r">
              <a:buNone/>
            </a:pPr>
            <a:r>
              <a:rPr lang="en-US" sz="900" dirty="0">
                <a:solidFill>
                  <a:srgbClr val="7A8B95"/>
                </a:solidFill>
                <a:latin typeface="Calibri" pitchFamily="34" charset="0"/>
                <a:ea typeface="Calibri" pitchFamily="34" charset="-122"/>
                <a:cs typeface="Calibri" pitchFamily="34" charset="-120"/>
              </a:rPr>
              <a:t>16</a:t>
            </a:r>
            <a:endParaRPr lang="en-US" sz="900" dirty="0"/>
          </a:p>
        </p:txBody>
      </p:sp>
      <p:sp>
        <p:nvSpPr>
          <p:cNvPr id="3" name="Text 1"/>
          <p:cNvSpPr/>
          <p:nvPr/>
        </p:nvSpPr>
        <p:spPr>
          <a:xfrm>
            <a:off x="457200" y="219456"/>
            <a:ext cx="8229600" cy="420624"/>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Recommendations</a:t>
            </a:r>
            <a:endParaRPr lang="en-US" sz="2200" dirty="0"/>
          </a:p>
        </p:txBody>
      </p:sp>
      <p:sp>
        <p:nvSpPr>
          <p:cNvPr id="4" name="Text 2"/>
          <p:cNvSpPr/>
          <p:nvPr/>
        </p:nvSpPr>
        <p:spPr>
          <a:xfrm>
            <a:off x="457200" y="987552"/>
            <a:ext cx="502920" cy="457200"/>
          </a:xfrm>
          <a:prstGeom prst="rect">
            <a:avLst/>
          </a:prstGeom>
          <a:noFill/>
          <a:ln/>
        </p:spPr>
        <p:txBody>
          <a:bodyPr wrap="square" lIns="0" tIns="0" rIns="0" bIns="0" rtlCol="0" anchor="ctr"/>
          <a:lstStyle/>
          <a:p>
            <a:pPr marL="0" indent="0">
              <a:buNone/>
            </a:pPr>
            <a:r>
              <a:rPr lang="en-US" sz="3000" b="1" dirty="0">
                <a:solidFill>
                  <a:srgbClr val="B8860B"/>
                </a:solidFill>
                <a:latin typeface="Cambria" pitchFamily="34" charset="0"/>
                <a:ea typeface="Cambria" pitchFamily="34" charset="-122"/>
                <a:cs typeface="Cambria" pitchFamily="34" charset="-120"/>
              </a:rPr>
              <a:t>1</a:t>
            </a:r>
            <a:endParaRPr lang="en-US" sz="3000" dirty="0"/>
          </a:p>
        </p:txBody>
      </p:sp>
      <p:sp>
        <p:nvSpPr>
          <p:cNvPr id="5" name="Text 3"/>
          <p:cNvSpPr/>
          <p:nvPr/>
        </p:nvSpPr>
        <p:spPr>
          <a:xfrm>
            <a:off x="1024128" y="1005840"/>
            <a:ext cx="7680960" cy="274320"/>
          </a:xfrm>
          <a:prstGeom prst="rect">
            <a:avLst/>
          </a:prstGeom>
          <a:noFill/>
          <a:ln/>
        </p:spPr>
        <p:txBody>
          <a:bodyPr wrap="square" lIns="0" tIns="0" rIns="0" bIns="0" rtlCol="0" anchor="ctr"/>
          <a:lstStyle/>
          <a:p>
            <a:pPr marL="0" indent="0">
              <a:buNone/>
            </a:pPr>
            <a:r>
              <a:rPr lang="en-US" sz="1400" b="1" dirty="0">
                <a:solidFill>
                  <a:srgbClr val="FFFFFF"/>
                </a:solidFill>
                <a:latin typeface="Cambria" pitchFamily="34" charset="0"/>
                <a:ea typeface="Cambria" pitchFamily="34" charset="-122"/>
                <a:cs typeface="Cambria" pitchFamily="34" charset="-120"/>
              </a:rPr>
              <a:t>Hedge oil and budget for large swings</a:t>
            </a:r>
            <a:endParaRPr lang="en-US" sz="1400" dirty="0"/>
          </a:p>
        </p:txBody>
      </p:sp>
      <p:sp>
        <p:nvSpPr>
          <p:cNvPr id="6" name="Text 4"/>
          <p:cNvSpPr/>
          <p:nvPr/>
        </p:nvSpPr>
        <p:spPr>
          <a:xfrm>
            <a:off x="1024128" y="1316736"/>
            <a:ext cx="7589520" cy="603504"/>
          </a:xfrm>
          <a:prstGeom prst="rect">
            <a:avLst/>
          </a:prstGeom>
          <a:noFill/>
          <a:ln/>
        </p:spPr>
        <p:txBody>
          <a:bodyPr wrap="square" lIns="0" tIns="0" rIns="0" bIns="0" rtlCol="0" anchor="t"/>
          <a:lstStyle/>
          <a:p>
            <a:pPr marL="0" indent="0">
              <a:lnSpc>
                <a:spcPts val="1400"/>
              </a:lnSpc>
              <a:buNone/>
            </a:pPr>
            <a:r>
              <a:rPr lang="en-US" sz="1050" dirty="0">
                <a:solidFill>
                  <a:srgbClr val="B9CBD5"/>
                </a:solidFill>
                <a:latin typeface="Calibri" pitchFamily="34" charset="0"/>
                <a:ea typeface="Calibri" pitchFamily="34" charset="-122"/>
                <a:cs typeface="Calibri" pitchFamily="34" charset="-120"/>
              </a:rPr>
              <a:t>Plan for a ±30% year and stress-test a one-month +52%. Buy protection during the calm stretch: 2025 was calm, March 2026 was the bill.</a:t>
            </a:r>
            <a:endParaRPr lang="en-US" sz="1050" dirty="0"/>
          </a:p>
        </p:txBody>
      </p:sp>
      <p:sp>
        <p:nvSpPr>
          <p:cNvPr id="7" name="Text 5"/>
          <p:cNvSpPr/>
          <p:nvPr/>
        </p:nvSpPr>
        <p:spPr>
          <a:xfrm>
            <a:off x="457200" y="2039112"/>
            <a:ext cx="502920" cy="457200"/>
          </a:xfrm>
          <a:prstGeom prst="rect">
            <a:avLst/>
          </a:prstGeom>
          <a:noFill/>
          <a:ln/>
        </p:spPr>
        <p:txBody>
          <a:bodyPr wrap="square" lIns="0" tIns="0" rIns="0" bIns="0" rtlCol="0" anchor="ctr"/>
          <a:lstStyle/>
          <a:p>
            <a:pPr marL="0" indent="0">
              <a:buNone/>
            </a:pPr>
            <a:r>
              <a:rPr lang="en-US" sz="3000" b="1" dirty="0">
                <a:solidFill>
                  <a:srgbClr val="B8860B"/>
                </a:solidFill>
                <a:latin typeface="Cambria" pitchFamily="34" charset="0"/>
                <a:ea typeface="Cambria" pitchFamily="34" charset="-122"/>
                <a:cs typeface="Cambria" pitchFamily="34" charset="-120"/>
              </a:rPr>
              <a:t>2</a:t>
            </a:r>
            <a:endParaRPr lang="en-US" sz="3000" dirty="0"/>
          </a:p>
        </p:txBody>
      </p:sp>
      <p:sp>
        <p:nvSpPr>
          <p:cNvPr id="8" name="Text 6"/>
          <p:cNvSpPr/>
          <p:nvPr/>
        </p:nvSpPr>
        <p:spPr>
          <a:xfrm>
            <a:off x="1024128" y="2057400"/>
            <a:ext cx="7680960" cy="274320"/>
          </a:xfrm>
          <a:prstGeom prst="rect">
            <a:avLst/>
          </a:prstGeom>
          <a:noFill/>
          <a:ln/>
        </p:spPr>
        <p:txBody>
          <a:bodyPr wrap="square" lIns="0" tIns="0" rIns="0" bIns="0" rtlCol="0" anchor="ctr"/>
          <a:lstStyle/>
          <a:p>
            <a:pPr marL="0" indent="0">
              <a:buNone/>
            </a:pPr>
            <a:r>
              <a:rPr lang="en-US" sz="1400" b="1" dirty="0">
                <a:solidFill>
                  <a:srgbClr val="FFFFFF"/>
                </a:solidFill>
                <a:latin typeface="Cambria" pitchFamily="34" charset="0"/>
                <a:ea typeface="Cambria" pitchFamily="34" charset="-122"/>
                <a:cs typeface="Cambria" pitchFamily="34" charset="-120"/>
              </a:rPr>
              <a:t>Hold gold as a strategic allocation</a:t>
            </a:r>
            <a:endParaRPr lang="en-US" sz="1400" dirty="0"/>
          </a:p>
        </p:txBody>
      </p:sp>
      <p:sp>
        <p:nvSpPr>
          <p:cNvPr id="9" name="Text 7"/>
          <p:cNvSpPr/>
          <p:nvPr/>
        </p:nvSpPr>
        <p:spPr>
          <a:xfrm>
            <a:off x="1024128" y="2368296"/>
            <a:ext cx="7589520" cy="603504"/>
          </a:xfrm>
          <a:prstGeom prst="rect">
            <a:avLst/>
          </a:prstGeom>
          <a:noFill/>
          <a:ln/>
        </p:spPr>
        <p:txBody>
          <a:bodyPr wrap="square" lIns="0" tIns="0" rIns="0" bIns="0" rtlCol="0" anchor="t"/>
          <a:lstStyle/>
          <a:p>
            <a:pPr marL="0" indent="0">
              <a:lnSpc>
                <a:spcPts val="1400"/>
              </a:lnSpc>
              <a:buNone/>
            </a:pPr>
            <a:r>
              <a:rPr lang="en-US" sz="1050" dirty="0">
                <a:solidFill>
                  <a:srgbClr val="B9CBD5"/>
                </a:solidFill>
                <a:latin typeface="Calibri" pitchFamily="34" charset="0"/>
                <a:ea typeface="Calibri" pitchFamily="34" charset="-122"/>
                <a:cs typeface="Calibri" pitchFamily="34" charset="-120"/>
              </a:rPr>
              <a:t>The 2022–2026 climb tracks central-bank reserve buying, which is a policy trend rather than a panic. Build the position gradually. Entering after a near-tripling carries correction risk.</a:t>
            </a:r>
            <a:endParaRPr lang="en-US" sz="1050" dirty="0"/>
          </a:p>
        </p:txBody>
      </p:sp>
      <p:sp>
        <p:nvSpPr>
          <p:cNvPr id="10" name="Text 8"/>
          <p:cNvSpPr/>
          <p:nvPr/>
        </p:nvSpPr>
        <p:spPr>
          <a:xfrm>
            <a:off x="457200" y="3090672"/>
            <a:ext cx="502920" cy="457200"/>
          </a:xfrm>
          <a:prstGeom prst="rect">
            <a:avLst/>
          </a:prstGeom>
          <a:noFill/>
          <a:ln/>
        </p:spPr>
        <p:txBody>
          <a:bodyPr wrap="square" lIns="0" tIns="0" rIns="0" bIns="0" rtlCol="0" anchor="ctr"/>
          <a:lstStyle/>
          <a:p>
            <a:pPr marL="0" indent="0">
              <a:buNone/>
            </a:pPr>
            <a:r>
              <a:rPr lang="en-US" sz="3000" b="1" dirty="0">
                <a:solidFill>
                  <a:srgbClr val="B8860B"/>
                </a:solidFill>
                <a:latin typeface="Cambria" pitchFamily="34" charset="0"/>
                <a:ea typeface="Cambria" pitchFamily="34" charset="-122"/>
                <a:cs typeface="Cambria" pitchFamily="34" charset="-120"/>
              </a:rPr>
              <a:t>3</a:t>
            </a:r>
            <a:endParaRPr lang="en-US" sz="3000" dirty="0"/>
          </a:p>
        </p:txBody>
      </p:sp>
      <p:sp>
        <p:nvSpPr>
          <p:cNvPr id="11" name="Text 9"/>
          <p:cNvSpPr/>
          <p:nvPr/>
        </p:nvSpPr>
        <p:spPr>
          <a:xfrm>
            <a:off x="1024128" y="3108960"/>
            <a:ext cx="7680960" cy="274320"/>
          </a:xfrm>
          <a:prstGeom prst="rect">
            <a:avLst/>
          </a:prstGeom>
          <a:noFill/>
          <a:ln/>
        </p:spPr>
        <p:txBody>
          <a:bodyPr wrap="square" lIns="0" tIns="0" rIns="0" bIns="0" rtlCol="0" anchor="ctr"/>
          <a:lstStyle/>
          <a:p>
            <a:pPr marL="0" indent="0">
              <a:buNone/>
            </a:pPr>
            <a:r>
              <a:rPr lang="en-US" sz="1400" b="1" dirty="0">
                <a:solidFill>
                  <a:srgbClr val="FFFFFF"/>
                </a:solidFill>
                <a:latin typeface="Cambria" pitchFamily="34" charset="0"/>
                <a:ea typeface="Cambria" pitchFamily="34" charset="-122"/>
                <a:cs typeface="Cambria" pitchFamily="34" charset="-120"/>
              </a:rPr>
              <a:t>Keep settling in dollars, add renminbi capability</a:t>
            </a:r>
            <a:endParaRPr lang="en-US" sz="1400" dirty="0"/>
          </a:p>
        </p:txBody>
      </p:sp>
      <p:sp>
        <p:nvSpPr>
          <p:cNvPr id="12" name="Text 10"/>
          <p:cNvSpPr/>
          <p:nvPr/>
        </p:nvSpPr>
        <p:spPr>
          <a:xfrm>
            <a:off x="1024128" y="3419856"/>
            <a:ext cx="7589520" cy="603504"/>
          </a:xfrm>
          <a:prstGeom prst="rect">
            <a:avLst/>
          </a:prstGeom>
          <a:noFill/>
          <a:ln/>
        </p:spPr>
        <p:txBody>
          <a:bodyPr wrap="square" lIns="0" tIns="0" rIns="0" bIns="0" rtlCol="0" anchor="t"/>
          <a:lstStyle/>
          <a:p>
            <a:pPr marL="0" indent="0">
              <a:lnSpc>
                <a:spcPts val="1400"/>
              </a:lnSpc>
              <a:buNone/>
            </a:pPr>
            <a:r>
              <a:rPr lang="en-US" sz="1050" dirty="0">
                <a:solidFill>
                  <a:srgbClr val="B9CBD5"/>
                </a:solidFill>
                <a:latin typeface="Calibri" pitchFamily="34" charset="0"/>
                <a:ea typeface="Calibri" pitchFamily="34" charset="-122"/>
                <a:cs typeface="Calibri" pitchFamily="34" charset="-120"/>
              </a:rPr>
              <a:t>The dollar handles 51% of payments and 81% of trade finance, so it stays the default. The renminbi is already second in trade finance, so tested channels there are cheap insurance.</a:t>
            </a:r>
            <a:endParaRPr lang="en-US" sz="1050" dirty="0"/>
          </a:p>
        </p:txBody>
      </p:sp>
      <p:sp>
        <p:nvSpPr>
          <p:cNvPr id="13" name="Text 11"/>
          <p:cNvSpPr/>
          <p:nvPr/>
        </p:nvSpPr>
        <p:spPr>
          <a:xfrm>
            <a:off x="457200" y="4224528"/>
            <a:ext cx="8229600" cy="502920"/>
          </a:xfrm>
          <a:prstGeom prst="rect">
            <a:avLst/>
          </a:prstGeom>
          <a:noFill/>
          <a:ln/>
        </p:spPr>
        <p:txBody>
          <a:bodyPr wrap="square" lIns="0" tIns="0" rIns="0" bIns="0" rtlCol="0" anchor="t"/>
          <a:lstStyle/>
          <a:p>
            <a:pPr marL="0" indent="0">
              <a:lnSpc>
                <a:spcPts val="1300"/>
              </a:lnSpc>
              <a:buNone/>
            </a:pPr>
            <a:r>
              <a:rPr lang="en-US" sz="1000" i="1" dirty="0">
                <a:solidFill>
                  <a:srgbClr val="8FA6B2"/>
                </a:solidFill>
                <a:latin typeface="Calibri" pitchFamily="34" charset="0"/>
                <a:ea typeface="Calibri" pitchFamily="34" charset="-122"/>
                <a:cs typeface="Calibri" pitchFamily="34" charset="-120"/>
              </a:rPr>
              <a:t>Three markets, three speeds. Oil reprices in weeks on supply, metals over years on monetary policy, settlement currencies barely at all. Full analysis in the report, the workbook and four notebooks.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214</TotalTime>
  <Words>2307</Words>
  <Application>Microsoft Office PowerPoint</Application>
  <PresentationFormat>Экран (16:9)</PresentationFormat>
  <Paragraphs>284</Paragraphs>
  <Slides>16</Slides>
  <Notes>16</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16</vt:i4>
      </vt:variant>
    </vt:vector>
  </HeadingPairs>
  <TitlesOfParts>
    <vt:vector size="20" baseType="lpstr">
      <vt:lpstr>Arial</vt:lpstr>
      <vt:lpstr>Calibri</vt:lpstr>
      <vt:lpstr>Cambria</vt:lpstr>
      <vt:lpstr>Office Theme</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Global Events, Commodities and Currency Markets</dc:title>
  <dc:subject>PptxGenJS Presentation</dc:subject>
  <dc:creator>DSB Group 8</dc:creator>
  <cp:lastModifiedBy>Ivan Logutov</cp:lastModifiedBy>
  <cp:revision>9</cp:revision>
  <dcterms:created xsi:type="dcterms:W3CDTF">2026-07-20T18:18:27Z</dcterms:created>
  <dcterms:modified xsi:type="dcterms:W3CDTF">2026-07-21T00:06:28Z</dcterms:modified>
</cp:coreProperties>
</file>